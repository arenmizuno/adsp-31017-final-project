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Playfair Display Medium"/>
      <p:regular r:id="rId21"/>
      <p:bold r:id="rId22"/>
      <p:italic r:id="rId23"/>
      <p:boldItalic r:id="rId24"/>
    </p:embeddedFont>
    <p:embeddedFont>
      <p:font typeface="Playfair Display"/>
      <p:regular r:id="rId25"/>
      <p:bold r:id="rId26"/>
      <p:italic r:id="rId27"/>
      <p:boldItalic r:id="rId28"/>
    </p:embeddedFont>
    <p:embeddedFont>
      <p:font typeface="Lato"/>
      <p:regular r:id="rId29"/>
      <p:bold r:id="rId30"/>
      <p:italic r:id="rId31"/>
      <p:boldItalic r:id="rId32"/>
    </p:embeddedFont>
    <p:embeddedFont>
      <p:font typeface="Lato Light"/>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AB60A1-F282-4133-BFD4-AC10505FC9C3}">
  <a:tblStyle styleId="{9EAB60A1-F282-4133-BFD4-AC10505FC9C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5AEDA93-417F-497C-8809-40AAA259DC5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3.xml"/><Relationship Id="rId22" Type="http://schemas.openxmlformats.org/officeDocument/2006/relationships/font" Target="fonts/PlayfairDisplayMedium-bold.fntdata"/><Relationship Id="rId21" Type="http://schemas.openxmlformats.org/officeDocument/2006/relationships/font" Target="fonts/PlayfairDisplayMedium-regular.fntdata"/><Relationship Id="rId24" Type="http://schemas.openxmlformats.org/officeDocument/2006/relationships/font" Target="fonts/PlayfairDisplayMedium-boldItalic.fntdata"/><Relationship Id="rId23" Type="http://schemas.openxmlformats.org/officeDocument/2006/relationships/font" Target="fonts/PlayfairDisplay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PlayfairDisplay-bold.fntdata"/><Relationship Id="rId25" Type="http://schemas.openxmlformats.org/officeDocument/2006/relationships/font" Target="fonts/PlayfairDisplay-regular.fntdata"/><Relationship Id="rId28" Type="http://schemas.openxmlformats.org/officeDocument/2006/relationships/font" Target="fonts/PlayfairDisplay-boldItalic.fntdata"/><Relationship Id="rId27" Type="http://schemas.openxmlformats.org/officeDocument/2006/relationships/font" Target="fonts/PlayfairDisplay-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at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4.xml"/><Relationship Id="rId33" Type="http://schemas.openxmlformats.org/officeDocument/2006/relationships/font" Target="fonts/LatoLight-regular.fntdata"/><Relationship Id="rId10" Type="http://schemas.openxmlformats.org/officeDocument/2006/relationships/slide" Target="slides/slide3.xml"/><Relationship Id="rId32" Type="http://schemas.openxmlformats.org/officeDocument/2006/relationships/font" Target="fonts/Lato-boldItalic.fntdata"/><Relationship Id="rId13" Type="http://schemas.openxmlformats.org/officeDocument/2006/relationships/slide" Target="slides/slide6.xml"/><Relationship Id="rId35" Type="http://schemas.openxmlformats.org/officeDocument/2006/relationships/font" Target="fonts/LatoLight-italic.fntdata"/><Relationship Id="rId12" Type="http://schemas.openxmlformats.org/officeDocument/2006/relationships/slide" Target="slides/slide5.xml"/><Relationship Id="rId34" Type="http://schemas.openxmlformats.org/officeDocument/2006/relationships/font" Target="fonts/LatoLight-bold.fntdata"/><Relationship Id="rId15" Type="http://schemas.openxmlformats.org/officeDocument/2006/relationships/slide" Target="slides/slide8.xml"/><Relationship Id="rId37" Type="http://schemas.openxmlformats.org/officeDocument/2006/relationships/font" Target="fonts/RobotoMono-regular.fntdata"/><Relationship Id="rId14" Type="http://schemas.openxmlformats.org/officeDocument/2006/relationships/slide" Target="slides/slide7.xml"/><Relationship Id="rId36" Type="http://schemas.openxmlformats.org/officeDocument/2006/relationships/font" Target="fonts/LatoLight-boldItalic.fntdata"/><Relationship Id="rId17" Type="http://schemas.openxmlformats.org/officeDocument/2006/relationships/slide" Target="slides/slide10.xml"/><Relationship Id="rId39" Type="http://schemas.openxmlformats.org/officeDocument/2006/relationships/font" Target="fonts/RobotoMono-italic.fntdata"/><Relationship Id="rId16" Type="http://schemas.openxmlformats.org/officeDocument/2006/relationships/slide" Target="slides/slide9.xml"/><Relationship Id="rId38" Type="http://schemas.openxmlformats.org/officeDocument/2006/relationships/font" Target="fonts/RobotoMon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5530fe7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5530fe7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Emily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5530fe7d8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5530fe7d8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1000">
                <a:solidFill>
                  <a:srgbClr val="1C2026"/>
                </a:solidFill>
                <a:latin typeface="Lato"/>
                <a:ea typeface="Lato"/>
                <a:cs typeface="Lato"/>
                <a:sym typeface="Lato"/>
              </a:rPr>
              <a:t>15% rise in late-delivery penalties stems from reactive scheduling; built a pre-departure prediction model that explains 45% of delivery time deviation using only information before truck leaves, top drivers are route risk level, traffic congestion, weather severity. Deploying this model enables proactive re-routing/ rescheduling of the highest-risk shipments.</a:t>
            </a:r>
            <a:endParaRPr sz="1000">
              <a:solidFill>
                <a:srgbClr val="1C2026"/>
              </a:solidFill>
              <a:latin typeface="Lato"/>
              <a:ea typeface="Lato"/>
              <a:cs typeface="Lato"/>
              <a:sym typeface="Lato"/>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Clr>
                <a:schemeClr val="dk1"/>
              </a:buClr>
              <a:buSzPts val="1100"/>
              <a:buNone/>
            </a:pPr>
            <a:r>
              <a:rPr lang="en"/>
              <a:t>Emily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5530fe7d8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5530fe7d8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High-value shipments (?), penalty-driven contracts, trust </a:t>
            </a:r>
            <a:r>
              <a:rPr lang="en"/>
              <a:t>erosion</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Emily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5530fe7d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c5530fe7d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32k shipment records, 20+ columns spanning GPS, weather, supplier scores, driver metrics. Individual shipment records. Careful leakage prevention, excluding all in-transit and post-shipment variables. usin g target delivery_time_deviation, right skewed with mean fo ~7.5 hours and op to 2 days. Only a few features show heavy correlation with target, so signals inherently unpredictable of in-transit events. Low missingness, dropped. No temporal trend, random train/test split justified. 13 features selected, business justification. 2 engineered features, day of week and driver risk score (explain). 20 columns after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Daniel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5530fe7d8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c5530fe7d8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32k shipment records, 20+ columns spanning GPS, weather, supplier scores, driver metrics. Individual shipment records. Careful leakage prevention, excluding all in-transit and post-shipment variables. </a:t>
            </a:r>
            <a:r>
              <a:rPr lang="en"/>
              <a:t>u</a:t>
            </a:r>
            <a:r>
              <a:rPr lang="en"/>
              <a:t>sin g target delivery_time_deviation, right skewed with mean fo ~7.5 hours and op to 2 days. Only a few features show heavy correlation with target, so signals inherently </a:t>
            </a:r>
            <a:r>
              <a:rPr lang="en"/>
              <a:t>unpredictable</a:t>
            </a:r>
            <a:r>
              <a:rPr lang="en"/>
              <a:t> of in-transit events. Low missingness, dropped. No temporal trend, random train/test split justified. 13 features selected, business justification. 2 engineered features, day of week and driver risk score (explain). 20 columns after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Daniel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c5530fe7d8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c5530fe7d8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Lots of models covered linear (LR, ridge, lasso, elastic net), tree (RF, GBR, XGBoost), </a:t>
            </a:r>
            <a:r>
              <a:rPr lang="en"/>
              <a:t>kernel</a:t>
            </a:r>
            <a:r>
              <a:rPr lang="en"/>
              <a:t> (SVR-RBF), polynomial (polyridge deg-2). 5-fold CV with gridsearch CV, primary metric RMSE used. Models converged to around 0.45. Best model maybe is ridge? Simplest model that has good performance. RMSE penalizes large deviations more heavily -&gt; aligned with logisticorp’s penalty structure, bigger deplays = more fines. We did not use classification because we need to think about magnitude of interventions.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Aren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5530fe7d8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c5530fe7d8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5530fe7d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5530fe7d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c5530fe7d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c5530fe7d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c5530fe7d8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c5530fe7d8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solidFill>
                  <a:schemeClr val="dk1"/>
                </a:solidFill>
              </a:rPr>
              <a:t>hoon</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cdde5ebea3_1_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cdde5ebea3_1_5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g3cdde5ebea3_1_5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cdde5ebea3_1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cdde5ebea3_1_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3cdde5ebea3_1_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c56baba83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c56baba83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8" name="Shape 8"/>
        <p:cNvGrpSpPr/>
        <p:nvPr/>
      </p:nvGrpSpPr>
      <p:grpSpPr>
        <a:xfrm>
          <a:off x="0" y="0"/>
          <a:ext cx="0" cy="0"/>
          <a:chOff x="0" y="0"/>
          <a:chExt cx="0" cy="0"/>
        </a:xfrm>
      </p:grpSpPr>
      <p:sp>
        <p:nvSpPr>
          <p:cNvPr id="9" name="Google Shape;9;p2"/>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 name="Google Shape;10;p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 name="Google Shape;11;p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12" name="Shape 12"/>
        <p:cNvGrpSpPr/>
        <p:nvPr/>
      </p:nvGrpSpPr>
      <p:grpSpPr>
        <a:xfrm>
          <a:off x="0" y="0"/>
          <a:ext cx="0" cy="0"/>
          <a:chOff x="0" y="0"/>
          <a:chExt cx="0" cy="0"/>
        </a:xfrm>
      </p:grpSpPr>
      <p:sp>
        <p:nvSpPr>
          <p:cNvPr id="13" name="Google Shape;13;p3"/>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 name="Google Shape;14;p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 name="Google Shape;15;p3"/>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3"/>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 name="Google Shape;17;p3"/>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 name="Google Shape;18;p3"/>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 name="Google Shape;19;p3"/>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20" name="Google Shape;20;p3"/>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1" name="Google Shape;21;p3"/>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2" name="Google Shape;22;p3"/>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3" name="Google Shape;23;p3"/>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24" name="Shape 24"/>
        <p:cNvGrpSpPr/>
        <p:nvPr/>
      </p:nvGrpSpPr>
      <p:grpSpPr>
        <a:xfrm>
          <a:off x="0" y="0"/>
          <a:ext cx="0" cy="0"/>
          <a:chOff x="0" y="0"/>
          <a:chExt cx="0" cy="0"/>
        </a:xfrm>
      </p:grpSpPr>
      <p:sp>
        <p:nvSpPr>
          <p:cNvPr id="25" name="Google Shape;25;p4"/>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26" name="Google Shape;26;p4"/>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7" name="Google Shape;27;p4"/>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8" name="Google Shape;28;p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9" name="Google Shape;29;p4"/>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0" name="Google Shape;30;p4"/>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1" name="Google Shape;31;p4"/>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2" name="Google Shape;32;p4"/>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3" name="Google Shape;33;p4"/>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4" name="Google Shape;34;p4"/>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5" name="Google Shape;35;p4"/>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6" name="Google Shape;36;p4"/>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 name="Google Shape;37;p4"/>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8" name="Google Shape;38;p4"/>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9" name="Google Shape;39;p4"/>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40" name="Google Shape;40;p4"/>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41" name="Shape 41"/>
        <p:cNvGrpSpPr/>
        <p:nvPr/>
      </p:nvGrpSpPr>
      <p:grpSpPr>
        <a:xfrm>
          <a:off x="0" y="0"/>
          <a:ext cx="0" cy="0"/>
          <a:chOff x="0" y="0"/>
          <a:chExt cx="0" cy="0"/>
        </a:xfrm>
      </p:grpSpPr>
      <p:sp>
        <p:nvSpPr>
          <p:cNvPr id="42" name="Google Shape;42;p5"/>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3" name="Google Shape;43;p5"/>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4" name="Google Shape;44;p5"/>
          <p:cNvSpPr/>
          <p:nvPr>
            <p:ph idx="2" type="pic"/>
          </p:nvPr>
        </p:nvSpPr>
        <p:spPr>
          <a:xfrm>
            <a:off x="6802800" y="0"/>
            <a:ext cx="2341200" cy="1189800"/>
          </a:xfrm>
          <a:prstGeom prst="rect">
            <a:avLst/>
          </a:prstGeom>
          <a:noFill/>
          <a:ln>
            <a:noFill/>
          </a:ln>
        </p:spPr>
      </p:sp>
      <p:sp>
        <p:nvSpPr>
          <p:cNvPr id="45" name="Google Shape;45;p5"/>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 name="Google Shape;46;p5"/>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7" name="Google Shape;47;p5"/>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8" name="Google Shape;48;p5"/>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49" name="Google Shape;49;p5"/>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50" name="Shape 50"/>
        <p:cNvGrpSpPr/>
        <p:nvPr/>
      </p:nvGrpSpPr>
      <p:grpSpPr>
        <a:xfrm>
          <a:off x="0" y="0"/>
          <a:ext cx="0" cy="0"/>
          <a:chOff x="0" y="0"/>
          <a:chExt cx="0" cy="0"/>
        </a:xfrm>
      </p:grpSpPr>
      <p:sp>
        <p:nvSpPr>
          <p:cNvPr id="51" name="Google Shape;51;p6"/>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6"/>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3" name="Google Shape;53;p6"/>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54" name="Google Shape;54;p6"/>
          <p:cNvSpPr/>
          <p:nvPr>
            <p:ph idx="3" type="pic"/>
          </p:nvPr>
        </p:nvSpPr>
        <p:spPr>
          <a:xfrm>
            <a:off x="-50" y="1424175"/>
            <a:ext cx="1838100" cy="3267000"/>
          </a:xfrm>
          <a:prstGeom prst="rect">
            <a:avLst/>
          </a:prstGeom>
          <a:noFill/>
          <a:ln>
            <a:noFill/>
          </a:ln>
        </p:spPr>
      </p:sp>
      <p:sp>
        <p:nvSpPr>
          <p:cNvPr id="55" name="Google Shape;55;p6"/>
          <p:cNvSpPr/>
          <p:nvPr>
            <p:ph idx="4" type="pic"/>
          </p:nvPr>
        </p:nvSpPr>
        <p:spPr>
          <a:xfrm>
            <a:off x="4527160" y="1424175"/>
            <a:ext cx="1838100" cy="3267000"/>
          </a:xfrm>
          <a:prstGeom prst="rect">
            <a:avLst/>
          </a:prstGeom>
          <a:noFill/>
          <a:ln>
            <a:noFill/>
          </a:ln>
        </p:spPr>
      </p:sp>
      <p:sp>
        <p:nvSpPr>
          <p:cNvPr id="56" name="Google Shape;56;p6"/>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7" name="Google Shape;57;p6"/>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58" name="Google Shape;58;p6"/>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9" name="Google Shape;59;p6"/>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0" name="Google Shape;60;p6"/>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6"/>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62" name="Google Shape;62;p6"/>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63" name="Shape 63"/>
        <p:cNvGrpSpPr/>
        <p:nvPr/>
      </p:nvGrpSpPr>
      <p:grpSpPr>
        <a:xfrm>
          <a:off x="0" y="0"/>
          <a:ext cx="0" cy="0"/>
          <a:chOff x="0" y="0"/>
          <a:chExt cx="0" cy="0"/>
        </a:xfrm>
      </p:grpSpPr>
      <p:sp>
        <p:nvSpPr>
          <p:cNvPr id="64" name="Google Shape;64;p7"/>
          <p:cNvSpPr/>
          <p:nvPr>
            <p:ph idx="2" type="pic"/>
          </p:nvPr>
        </p:nvSpPr>
        <p:spPr>
          <a:xfrm>
            <a:off x="4138225" y="517875"/>
            <a:ext cx="1152300" cy="1203600"/>
          </a:xfrm>
          <a:prstGeom prst="rect">
            <a:avLst/>
          </a:prstGeom>
          <a:noFill/>
          <a:ln>
            <a:noFill/>
          </a:ln>
        </p:spPr>
      </p:sp>
      <p:sp>
        <p:nvSpPr>
          <p:cNvPr id="65" name="Google Shape;65;p7"/>
          <p:cNvSpPr/>
          <p:nvPr>
            <p:ph idx="3" type="pic"/>
          </p:nvPr>
        </p:nvSpPr>
        <p:spPr>
          <a:xfrm>
            <a:off x="4138225" y="1957188"/>
            <a:ext cx="1152300" cy="1203600"/>
          </a:xfrm>
          <a:prstGeom prst="rect">
            <a:avLst/>
          </a:prstGeom>
          <a:noFill/>
          <a:ln>
            <a:noFill/>
          </a:ln>
        </p:spPr>
      </p:sp>
      <p:sp>
        <p:nvSpPr>
          <p:cNvPr id="66" name="Google Shape;66;p7"/>
          <p:cNvSpPr/>
          <p:nvPr>
            <p:ph idx="4" type="pic"/>
          </p:nvPr>
        </p:nvSpPr>
        <p:spPr>
          <a:xfrm>
            <a:off x="4138213" y="3403813"/>
            <a:ext cx="1152300" cy="1203600"/>
          </a:xfrm>
          <a:prstGeom prst="rect">
            <a:avLst/>
          </a:prstGeom>
          <a:noFill/>
          <a:ln>
            <a:noFill/>
          </a:ln>
        </p:spPr>
      </p:sp>
      <p:sp>
        <p:nvSpPr>
          <p:cNvPr id="67" name="Google Shape;67;p7"/>
          <p:cNvSpPr/>
          <p:nvPr>
            <p:ph idx="5" type="pic"/>
          </p:nvPr>
        </p:nvSpPr>
        <p:spPr>
          <a:xfrm>
            <a:off x="6573252" y="517875"/>
            <a:ext cx="1152300" cy="1203600"/>
          </a:xfrm>
          <a:prstGeom prst="rect">
            <a:avLst/>
          </a:prstGeom>
          <a:noFill/>
          <a:ln>
            <a:noFill/>
          </a:ln>
        </p:spPr>
      </p:sp>
      <p:sp>
        <p:nvSpPr>
          <p:cNvPr id="68" name="Google Shape;68;p7"/>
          <p:cNvSpPr/>
          <p:nvPr>
            <p:ph idx="6" type="pic"/>
          </p:nvPr>
        </p:nvSpPr>
        <p:spPr>
          <a:xfrm>
            <a:off x="6573252" y="1957188"/>
            <a:ext cx="1152300" cy="1203600"/>
          </a:xfrm>
          <a:prstGeom prst="rect">
            <a:avLst/>
          </a:prstGeom>
          <a:noFill/>
          <a:ln>
            <a:noFill/>
          </a:ln>
        </p:spPr>
      </p:sp>
      <p:sp>
        <p:nvSpPr>
          <p:cNvPr id="69" name="Google Shape;69;p7"/>
          <p:cNvSpPr/>
          <p:nvPr>
            <p:ph idx="7" type="pic"/>
          </p:nvPr>
        </p:nvSpPr>
        <p:spPr>
          <a:xfrm>
            <a:off x="6573252" y="3403813"/>
            <a:ext cx="1152300" cy="1203600"/>
          </a:xfrm>
          <a:prstGeom prst="rect">
            <a:avLst/>
          </a:prstGeom>
          <a:noFill/>
          <a:ln>
            <a:noFill/>
          </a:ln>
        </p:spPr>
      </p:sp>
      <p:sp>
        <p:nvSpPr>
          <p:cNvPr id="70" name="Google Shape;70;p7"/>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1" name="Google Shape;71;p7"/>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2" name="Google Shape;72;p7"/>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3" name="Google Shape;73;p7"/>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4" name="Google Shape;74;p7"/>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5" name="Google Shape;75;p7"/>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6" name="Google Shape;76;p7"/>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7" name="Google Shape;77;p7"/>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8" name="Google Shape;78;p7"/>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9" name="Google Shape;79;p7"/>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0" name="Google Shape;80;p7"/>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1" name="Google Shape;81;p7"/>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2" name="Google Shape;82;p7"/>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3" name="Google Shape;83;p7"/>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4" name="Google Shape;84;p7"/>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85" name="Shape 85"/>
        <p:cNvGrpSpPr/>
        <p:nvPr/>
      </p:nvGrpSpPr>
      <p:grpSpPr>
        <a:xfrm>
          <a:off x="0" y="0"/>
          <a:ext cx="0" cy="0"/>
          <a:chOff x="0" y="0"/>
          <a:chExt cx="0" cy="0"/>
        </a:xfrm>
      </p:grpSpPr>
      <p:sp>
        <p:nvSpPr>
          <p:cNvPr id="86" name="Google Shape;86;p8"/>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7" name="Google Shape;87;p8"/>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8" name="Google Shape;88;p8"/>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9" name="Google Shape;89;p8"/>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90" name="Shape 90"/>
        <p:cNvGrpSpPr/>
        <p:nvPr/>
      </p:nvGrpSpPr>
      <p:grpSpPr>
        <a:xfrm>
          <a:off x="0" y="0"/>
          <a:ext cx="0" cy="0"/>
          <a:chOff x="0" y="0"/>
          <a:chExt cx="0" cy="0"/>
        </a:xfrm>
      </p:grpSpPr>
      <p:sp>
        <p:nvSpPr>
          <p:cNvPr id="91" name="Google Shape;91;p9"/>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92" name="Google Shape;92;p9"/>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93" name="Google Shape;93;p9"/>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4" name="Google Shape;94;p9"/>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95" name="Google Shape;95;p9"/>
          <p:cNvSpPr/>
          <p:nvPr>
            <p:ph idx="3" type="pic"/>
          </p:nvPr>
        </p:nvSpPr>
        <p:spPr>
          <a:xfrm>
            <a:off x="0" y="0"/>
            <a:ext cx="9144000" cy="10791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96" name="Shape 96"/>
        <p:cNvGrpSpPr/>
        <p:nvPr/>
      </p:nvGrpSpPr>
      <p:grpSpPr>
        <a:xfrm>
          <a:off x="0" y="0"/>
          <a:ext cx="0" cy="0"/>
          <a:chOff x="0" y="0"/>
          <a:chExt cx="0" cy="0"/>
        </a:xfrm>
      </p:grpSpPr>
      <p:sp>
        <p:nvSpPr>
          <p:cNvPr id="97" name="Google Shape;97;p10"/>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98" name="Google Shape;98;p10"/>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99" name="Google Shape;99;p10"/>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0" name="Google Shape;100;p10"/>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1" name="Google Shape;101;p10"/>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2" name="Google Shape;102;p10"/>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3" name="Google Shape;103;p10"/>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4" name="Google Shape;104;p1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5" name="Google Shape;105;p10"/>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06" name="Google Shape;106;p10"/>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7" name="Google Shape;107;p10"/>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8" name="Google Shape;108;p10"/>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9" name="Google Shape;109;p10"/>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0" name="Google Shape;110;p10"/>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1" name="Google Shape;111;p10"/>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12" name="Shape 112"/>
        <p:cNvGrpSpPr/>
        <p:nvPr/>
      </p:nvGrpSpPr>
      <p:grpSpPr>
        <a:xfrm>
          <a:off x="0" y="0"/>
          <a:ext cx="0" cy="0"/>
          <a:chOff x="0" y="0"/>
          <a:chExt cx="0" cy="0"/>
        </a:xfrm>
      </p:grpSpPr>
      <p:sp>
        <p:nvSpPr>
          <p:cNvPr id="113" name="Google Shape;113;p11"/>
          <p:cNvSpPr/>
          <p:nvPr>
            <p:ph idx="2" type="pic"/>
          </p:nvPr>
        </p:nvSpPr>
        <p:spPr>
          <a:xfrm>
            <a:off x="0" y="0"/>
            <a:ext cx="4348800" cy="5143500"/>
          </a:xfrm>
          <a:prstGeom prst="rect">
            <a:avLst/>
          </a:prstGeom>
          <a:noFill/>
          <a:ln>
            <a:noFill/>
          </a:ln>
        </p:spPr>
      </p:sp>
      <p:sp>
        <p:nvSpPr>
          <p:cNvPr id="114" name="Google Shape;114;p1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5" name="Google Shape;115;p11"/>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16" name="Google Shape;116;p11"/>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17" name="Google Shape;117;p11"/>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18" name="Google Shape;118;p11"/>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19" name="Shape 119"/>
        <p:cNvGrpSpPr/>
        <p:nvPr/>
      </p:nvGrpSpPr>
      <p:grpSpPr>
        <a:xfrm>
          <a:off x="0" y="0"/>
          <a:ext cx="0" cy="0"/>
          <a:chOff x="0" y="0"/>
          <a:chExt cx="0" cy="0"/>
        </a:xfrm>
      </p:grpSpPr>
      <p:sp>
        <p:nvSpPr>
          <p:cNvPr id="120" name="Google Shape;120;p12"/>
          <p:cNvSpPr/>
          <p:nvPr>
            <p:ph idx="2" type="pic"/>
          </p:nvPr>
        </p:nvSpPr>
        <p:spPr>
          <a:xfrm>
            <a:off x="6877724" y="0"/>
            <a:ext cx="2266200" cy="3405000"/>
          </a:xfrm>
          <a:prstGeom prst="rect">
            <a:avLst/>
          </a:prstGeom>
          <a:noFill/>
          <a:ln>
            <a:noFill/>
          </a:ln>
        </p:spPr>
      </p:sp>
      <p:sp>
        <p:nvSpPr>
          <p:cNvPr id="121" name="Google Shape;121;p12"/>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2" name="Google Shape;122;p1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23" name="Google Shape;123;p1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24" name="Shape 124"/>
        <p:cNvGrpSpPr/>
        <p:nvPr/>
      </p:nvGrpSpPr>
      <p:grpSpPr>
        <a:xfrm>
          <a:off x="0" y="0"/>
          <a:ext cx="0" cy="0"/>
          <a:chOff x="0" y="0"/>
          <a:chExt cx="0" cy="0"/>
        </a:xfrm>
      </p:grpSpPr>
      <p:sp>
        <p:nvSpPr>
          <p:cNvPr id="125" name="Google Shape;125;p1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6" name="Google Shape;126;p13"/>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7" name="Google Shape;127;p13"/>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28" name="Google Shape;128;p13"/>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29" name="Google Shape;129;p13"/>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0" name="Google Shape;130;p13"/>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1" name="Google Shape;131;p13"/>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2" name="Google Shape;132;p13"/>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3" name="Google Shape;133;p13"/>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4" name="Google Shape;134;p13"/>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5" name="Google Shape;135;p13"/>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36" name="Shape 136"/>
        <p:cNvGrpSpPr/>
        <p:nvPr/>
      </p:nvGrpSpPr>
      <p:grpSpPr>
        <a:xfrm>
          <a:off x="0" y="0"/>
          <a:ext cx="0" cy="0"/>
          <a:chOff x="0" y="0"/>
          <a:chExt cx="0" cy="0"/>
        </a:xfrm>
      </p:grpSpPr>
      <p:sp>
        <p:nvSpPr>
          <p:cNvPr id="137" name="Google Shape;137;p14"/>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38" name="Google Shape;138;p14"/>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39" name="Google Shape;139;p14"/>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0" name="Google Shape;140;p14"/>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1" name="Google Shape;141;p14"/>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2" name="Google Shape;142;p14"/>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3" name="Google Shape;143;p14"/>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4" name="Google Shape;144;p14"/>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5" name="Google Shape;145;p14"/>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6" name="Google Shape;146;p14"/>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7" name="Google Shape;147;p14"/>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48" name="Google Shape;148;p14"/>
          <p:cNvSpPr/>
          <p:nvPr>
            <p:ph idx="13" type="pic"/>
          </p:nvPr>
        </p:nvSpPr>
        <p:spPr>
          <a:xfrm>
            <a:off x="-74" y="3991500"/>
            <a:ext cx="2266200" cy="11520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149" name="Shape 149"/>
        <p:cNvGrpSpPr/>
        <p:nvPr/>
      </p:nvGrpSpPr>
      <p:grpSpPr>
        <a:xfrm>
          <a:off x="0" y="0"/>
          <a:ext cx="0" cy="0"/>
          <a:chOff x="0" y="0"/>
          <a:chExt cx="0" cy="0"/>
        </a:xfrm>
      </p:grpSpPr>
      <p:sp>
        <p:nvSpPr>
          <p:cNvPr id="150" name="Google Shape;150;p15"/>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51" name="Google Shape;151;p15"/>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52" name="Google Shape;152;p15"/>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53" name="Google Shape;153;p15"/>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54" name="Google Shape;154;p15"/>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5" name="Google Shape;155;p15"/>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56" name="Google Shape;156;p15"/>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57" name="Google Shape;157;p15"/>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58" name="Google Shape;158;p15"/>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59" name="Google Shape;159;p15"/>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60" name="Google Shape;160;p15"/>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61" name="Google Shape;161;p15"/>
          <p:cNvSpPr/>
          <p:nvPr>
            <p:ph idx="13" type="pic"/>
          </p:nvPr>
        </p:nvSpPr>
        <p:spPr>
          <a:xfrm>
            <a:off x="276075" y="2076900"/>
            <a:ext cx="2463300" cy="1570200"/>
          </a:xfrm>
          <a:prstGeom prst="rect">
            <a:avLst/>
          </a:prstGeom>
          <a:noFill/>
          <a:ln>
            <a:noFill/>
          </a:ln>
        </p:spPr>
      </p:sp>
      <p:sp>
        <p:nvSpPr>
          <p:cNvPr id="162" name="Google Shape;162;p15"/>
          <p:cNvSpPr/>
          <p:nvPr>
            <p:ph idx="14" type="pic"/>
          </p:nvPr>
        </p:nvSpPr>
        <p:spPr>
          <a:xfrm>
            <a:off x="3074775" y="2076900"/>
            <a:ext cx="2463300" cy="1570200"/>
          </a:xfrm>
          <a:prstGeom prst="rect">
            <a:avLst/>
          </a:prstGeom>
          <a:noFill/>
          <a:ln>
            <a:noFill/>
          </a:ln>
        </p:spPr>
      </p:sp>
      <p:sp>
        <p:nvSpPr>
          <p:cNvPr id="163" name="Google Shape;163;p15"/>
          <p:cNvSpPr/>
          <p:nvPr>
            <p:ph idx="15" type="pic"/>
          </p:nvPr>
        </p:nvSpPr>
        <p:spPr>
          <a:xfrm>
            <a:off x="5873475" y="2073688"/>
            <a:ext cx="2463300" cy="15702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164" name="Shape 164"/>
        <p:cNvGrpSpPr/>
        <p:nvPr/>
      </p:nvGrpSpPr>
      <p:grpSpPr>
        <a:xfrm>
          <a:off x="0" y="0"/>
          <a:ext cx="0" cy="0"/>
          <a:chOff x="0" y="0"/>
          <a:chExt cx="0" cy="0"/>
        </a:xfrm>
      </p:grpSpPr>
      <p:sp>
        <p:nvSpPr>
          <p:cNvPr id="165" name="Google Shape;165;p1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66" name="Google Shape;166;p1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7" name="Google Shape;167;p16"/>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68" name="Google Shape;168;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9" name="Shape 169"/>
        <p:cNvGrpSpPr/>
        <p:nvPr/>
      </p:nvGrpSpPr>
      <p:grpSpPr>
        <a:xfrm>
          <a:off x="0" y="0"/>
          <a:ext cx="0" cy="0"/>
          <a:chOff x="0" y="0"/>
          <a:chExt cx="0" cy="0"/>
        </a:xfrm>
      </p:grpSpPr>
      <p:sp>
        <p:nvSpPr>
          <p:cNvPr id="170" name="Google Shape;17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71" name="Google Shape;171;p17"/>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2" name="Shape 172"/>
        <p:cNvGrpSpPr/>
        <p:nvPr/>
      </p:nvGrpSpPr>
      <p:grpSpPr>
        <a:xfrm>
          <a:off x="0" y="0"/>
          <a:ext cx="0" cy="0"/>
          <a:chOff x="0" y="0"/>
          <a:chExt cx="0" cy="0"/>
        </a:xfrm>
      </p:grpSpPr>
      <p:sp>
        <p:nvSpPr>
          <p:cNvPr id="173" name="Google Shape;173;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74" name="Shape 174"/>
        <p:cNvGrpSpPr/>
        <p:nvPr/>
      </p:nvGrpSpPr>
      <p:grpSpPr>
        <a:xfrm>
          <a:off x="0" y="0"/>
          <a:ext cx="0" cy="0"/>
          <a:chOff x="0" y="0"/>
          <a:chExt cx="0" cy="0"/>
        </a:xfrm>
      </p:grpSpPr>
      <p:sp>
        <p:nvSpPr>
          <p:cNvPr id="175" name="Google Shape;175;p1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76" name="Google Shape;17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77" name="Shape 177"/>
        <p:cNvGrpSpPr/>
        <p:nvPr/>
      </p:nvGrpSpPr>
      <p:grpSpPr>
        <a:xfrm>
          <a:off x="0" y="0"/>
          <a:ext cx="0" cy="0"/>
          <a:chOff x="0" y="0"/>
          <a:chExt cx="0" cy="0"/>
        </a:xfrm>
      </p:grpSpPr>
      <p:sp>
        <p:nvSpPr>
          <p:cNvPr id="178" name="Google Shape;178;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79" name="Google Shape;179;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1" name="Shape 181"/>
        <p:cNvGrpSpPr/>
        <p:nvPr/>
      </p:nvGrpSpPr>
      <p:grpSpPr>
        <a:xfrm>
          <a:off x="0" y="0"/>
          <a:ext cx="0" cy="0"/>
          <a:chOff x="0" y="0"/>
          <a:chExt cx="0" cy="0"/>
        </a:xfrm>
      </p:grpSpPr>
      <p:sp>
        <p:nvSpPr>
          <p:cNvPr id="182" name="Google Shape;182;p2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83" name="Shape 183"/>
        <p:cNvGrpSpPr/>
        <p:nvPr/>
      </p:nvGrpSpPr>
      <p:grpSpPr>
        <a:xfrm>
          <a:off x="0" y="0"/>
          <a:ext cx="0" cy="0"/>
          <a:chOff x="0" y="0"/>
          <a:chExt cx="0" cy="0"/>
        </a:xfrm>
      </p:grpSpPr>
      <p:sp>
        <p:nvSpPr>
          <p:cNvPr id="184" name="Google Shape;184;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185" name="Google Shape;185;p2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86" name="Shape 186"/>
        <p:cNvGrpSpPr/>
        <p:nvPr/>
      </p:nvGrpSpPr>
      <p:grpSpPr>
        <a:xfrm>
          <a:off x="0" y="0"/>
          <a:ext cx="0" cy="0"/>
          <a:chOff x="0" y="0"/>
          <a:chExt cx="0" cy="0"/>
        </a:xfrm>
      </p:grpSpPr>
      <p:sp>
        <p:nvSpPr>
          <p:cNvPr id="187" name="Google Shape;187;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88" name="Shape 188"/>
        <p:cNvGrpSpPr/>
        <p:nvPr/>
      </p:nvGrpSpPr>
      <p:grpSpPr>
        <a:xfrm>
          <a:off x="0" y="0"/>
          <a:ext cx="0" cy="0"/>
          <a:chOff x="0" y="0"/>
          <a:chExt cx="0" cy="0"/>
        </a:xfrm>
      </p:grpSpPr>
      <p:sp>
        <p:nvSpPr>
          <p:cNvPr id="189" name="Google Shape;189;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190" name="Google Shape;190;p24"/>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91" name="Google Shape;191;p2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92" name="Shape 192"/>
        <p:cNvGrpSpPr/>
        <p:nvPr/>
      </p:nvGrpSpPr>
      <p:grpSpPr>
        <a:xfrm>
          <a:off x="0" y="0"/>
          <a:ext cx="0" cy="0"/>
          <a:chOff x="0" y="0"/>
          <a:chExt cx="0" cy="0"/>
        </a:xfrm>
      </p:grpSpPr>
      <p:sp>
        <p:nvSpPr>
          <p:cNvPr id="193" name="Google Shape;193;p2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94" name="Shape 194"/>
        <p:cNvGrpSpPr/>
        <p:nvPr/>
      </p:nvGrpSpPr>
      <p:grpSpPr>
        <a:xfrm>
          <a:off x="0" y="0"/>
          <a:ext cx="0" cy="0"/>
          <a:chOff x="0" y="0"/>
          <a:chExt cx="0" cy="0"/>
        </a:xfrm>
      </p:grpSpPr>
      <p:sp>
        <p:nvSpPr>
          <p:cNvPr id="195" name="Google Shape;19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196" name="Google Shape;196;p2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97" name="Shape 197"/>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98" name="Shape 198"/>
        <p:cNvGrpSpPr/>
        <p:nvPr/>
      </p:nvGrpSpPr>
      <p:grpSpPr>
        <a:xfrm>
          <a:off x="0" y="0"/>
          <a:ext cx="0" cy="0"/>
          <a:chOff x="0" y="0"/>
          <a:chExt cx="0" cy="0"/>
        </a:xfrm>
      </p:grpSpPr>
      <p:sp>
        <p:nvSpPr>
          <p:cNvPr id="199" name="Google Shape;199;p28"/>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28"/>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1" name="Google Shape;201;p28"/>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2" name="Google Shape;202;p28"/>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3" name="Google Shape;203;p28"/>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4" name="Google Shape;204;p28"/>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5" name="Google Shape;205;p28"/>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06" name="Shape 206"/>
        <p:cNvGrpSpPr/>
        <p:nvPr/>
      </p:nvGrpSpPr>
      <p:grpSpPr>
        <a:xfrm>
          <a:off x="0" y="0"/>
          <a:ext cx="0" cy="0"/>
          <a:chOff x="0" y="0"/>
          <a:chExt cx="0" cy="0"/>
        </a:xfrm>
      </p:grpSpPr>
      <p:sp>
        <p:nvSpPr>
          <p:cNvPr id="207" name="Google Shape;207;p2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8" name="Google Shape;208;p2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9" name="Google Shape;209;p2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10" name="Shape 210"/>
        <p:cNvGrpSpPr/>
        <p:nvPr/>
      </p:nvGrpSpPr>
      <p:grpSpPr>
        <a:xfrm>
          <a:off x="0" y="0"/>
          <a:ext cx="0" cy="0"/>
          <a:chOff x="0" y="0"/>
          <a:chExt cx="0" cy="0"/>
        </a:xfrm>
      </p:grpSpPr>
      <p:sp>
        <p:nvSpPr>
          <p:cNvPr id="211" name="Google Shape;211;p3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12" name="Google Shape;212;p3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3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30"/>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5" name="Google Shape;215;p30"/>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16" name="Shape 216"/>
        <p:cNvGrpSpPr/>
        <p:nvPr/>
      </p:nvGrpSpPr>
      <p:grpSpPr>
        <a:xfrm>
          <a:off x="0" y="0"/>
          <a:ext cx="0" cy="0"/>
          <a:chOff x="0" y="0"/>
          <a:chExt cx="0" cy="0"/>
        </a:xfrm>
      </p:grpSpPr>
      <p:sp>
        <p:nvSpPr>
          <p:cNvPr id="217" name="Google Shape;217;p3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8" name="Google Shape;218;p3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9" name="Google Shape;219;p3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20" name="Google Shape;220;p31"/>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1" name="Google Shape;221;p31"/>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2" name="Google Shape;222;p31"/>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3" name="Google Shape;223;p3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24" name="Shape 224"/>
        <p:cNvGrpSpPr/>
        <p:nvPr/>
      </p:nvGrpSpPr>
      <p:grpSpPr>
        <a:xfrm>
          <a:off x="0" y="0"/>
          <a:ext cx="0" cy="0"/>
          <a:chOff x="0" y="0"/>
          <a:chExt cx="0" cy="0"/>
        </a:xfrm>
      </p:grpSpPr>
      <p:sp>
        <p:nvSpPr>
          <p:cNvPr id="225" name="Google Shape;225;p3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3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7" name="Google Shape;227;p3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3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9" name="Google Shape;229;p32"/>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30" name="Google Shape;230;p32"/>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1" name="Google Shape;231;p32"/>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2"/>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3" name="Google Shape;233;p32"/>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6" name="Google Shape;236;p3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37" name="Shape 237"/>
        <p:cNvGrpSpPr/>
        <p:nvPr/>
      </p:nvGrpSpPr>
      <p:grpSpPr>
        <a:xfrm>
          <a:off x="0" y="0"/>
          <a:ext cx="0" cy="0"/>
          <a:chOff x="0" y="0"/>
          <a:chExt cx="0" cy="0"/>
        </a:xfrm>
      </p:grpSpPr>
      <p:sp>
        <p:nvSpPr>
          <p:cNvPr id="238" name="Google Shape;238;p3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9" name="Google Shape;239;p34"/>
          <p:cNvSpPr/>
          <p:nvPr>
            <p:ph idx="2" type="pic"/>
          </p:nvPr>
        </p:nvSpPr>
        <p:spPr>
          <a:xfrm>
            <a:off x="4804825" y="1133300"/>
            <a:ext cx="4027500" cy="2392800"/>
          </a:xfrm>
          <a:prstGeom prst="rect">
            <a:avLst/>
          </a:prstGeom>
          <a:noFill/>
          <a:ln>
            <a:noFill/>
          </a:ln>
        </p:spPr>
      </p:sp>
      <p:sp>
        <p:nvSpPr>
          <p:cNvPr id="240" name="Google Shape;240;p34"/>
          <p:cNvSpPr/>
          <p:nvPr>
            <p:ph idx="3" type="pic"/>
          </p:nvPr>
        </p:nvSpPr>
        <p:spPr>
          <a:xfrm>
            <a:off x="311725" y="1133300"/>
            <a:ext cx="4027500" cy="2392800"/>
          </a:xfrm>
          <a:prstGeom prst="rect">
            <a:avLst/>
          </a:prstGeom>
          <a:noFill/>
          <a:ln>
            <a:noFill/>
          </a:ln>
        </p:spPr>
      </p:sp>
      <p:sp>
        <p:nvSpPr>
          <p:cNvPr id="241" name="Google Shape;241;p3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2" name="Google Shape;242;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43" name="Google Shape;243;p34"/>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44" name="Google Shape;244;p34"/>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45" name="Shape 245"/>
        <p:cNvGrpSpPr/>
        <p:nvPr/>
      </p:nvGrpSpPr>
      <p:grpSpPr>
        <a:xfrm>
          <a:off x="0" y="0"/>
          <a:ext cx="0" cy="0"/>
          <a:chOff x="0" y="0"/>
          <a:chExt cx="0" cy="0"/>
        </a:xfrm>
      </p:grpSpPr>
      <p:sp>
        <p:nvSpPr>
          <p:cNvPr id="246" name="Google Shape;246;p3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7" name="Google Shape;247;p35"/>
          <p:cNvSpPr/>
          <p:nvPr>
            <p:ph idx="2" type="pic"/>
          </p:nvPr>
        </p:nvSpPr>
        <p:spPr>
          <a:xfrm>
            <a:off x="6205225" y="1128325"/>
            <a:ext cx="2627100" cy="2273100"/>
          </a:xfrm>
          <a:prstGeom prst="rect">
            <a:avLst/>
          </a:prstGeom>
          <a:noFill/>
          <a:ln>
            <a:noFill/>
          </a:ln>
        </p:spPr>
      </p:sp>
      <p:sp>
        <p:nvSpPr>
          <p:cNvPr id="248" name="Google Shape;248;p35"/>
          <p:cNvSpPr/>
          <p:nvPr>
            <p:ph idx="3" type="pic"/>
          </p:nvPr>
        </p:nvSpPr>
        <p:spPr>
          <a:xfrm>
            <a:off x="311725" y="1128325"/>
            <a:ext cx="2627100" cy="2273100"/>
          </a:xfrm>
          <a:prstGeom prst="rect">
            <a:avLst/>
          </a:prstGeom>
          <a:noFill/>
          <a:ln>
            <a:noFill/>
          </a:ln>
        </p:spPr>
      </p:sp>
      <p:sp>
        <p:nvSpPr>
          <p:cNvPr id="249" name="Google Shape;249;p3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0" name="Google Shape;250;p35"/>
          <p:cNvSpPr/>
          <p:nvPr>
            <p:ph idx="5" type="pic"/>
          </p:nvPr>
        </p:nvSpPr>
        <p:spPr>
          <a:xfrm>
            <a:off x="3255250" y="1128325"/>
            <a:ext cx="2627100" cy="2273100"/>
          </a:xfrm>
          <a:prstGeom prst="rect">
            <a:avLst/>
          </a:prstGeom>
          <a:noFill/>
          <a:ln>
            <a:noFill/>
          </a:ln>
        </p:spPr>
      </p:sp>
      <p:sp>
        <p:nvSpPr>
          <p:cNvPr id="251" name="Google Shape;251;p3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2" name="Google Shape;252;p3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3" name="Google Shape;253;p35"/>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4" name="Google Shape;254;p35"/>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5" name="Google Shape;255;p35"/>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56" name="Shape 256"/>
        <p:cNvGrpSpPr/>
        <p:nvPr/>
      </p:nvGrpSpPr>
      <p:grpSpPr>
        <a:xfrm>
          <a:off x="0" y="0"/>
          <a:ext cx="0" cy="0"/>
          <a:chOff x="0" y="0"/>
          <a:chExt cx="0" cy="0"/>
        </a:xfrm>
      </p:grpSpPr>
      <p:sp>
        <p:nvSpPr>
          <p:cNvPr id="257" name="Google Shape;257;p3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58" name="Shape 258"/>
        <p:cNvGrpSpPr/>
        <p:nvPr/>
      </p:nvGrpSpPr>
      <p:grpSpPr>
        <a:xfrm>
          <a:off x="0" y="0"/>
          <a:ext cx="0" cy="0"/>
          <a:chOff x="0" y="0"/>
          <a:chExt cx="0" cy="0"/>
        </a:xfrm>
      </p:grpSpPr>
      <p:sp>
        <p:nvSpPr>
          <p:cNvPr id="259" name="Google Shape;259;p37"/>
          <p:cNvSpPr/>
          <p:nvPr>
            <p:ph idx="2" type="pic"/>
          </p:nvPr>
        </p:nvSpPr>
        <p:spPr>
          <a:xfrm>
            <a:off x="3389600" y="118913"/>
            <a:ext cx="1643700" cy="1535100"/>
          </a:xfrm>
          <a:prstGeom prst="rect">
            <a:avLst/>
          </a:prstGeom>
          <a:noFill/>
          <a:ln>
            <a:noFill/>
          </a:ln>
        </p:spPr>
      </p:sp>
      <p:sp>
        <p:nvSpPr>
          <p:cNvPr id="260" name="Google Shape;260;p37"/>
          <p:cNvSpPr/>
          <p:nvPr>
            <p:ph idx="3" type="pic"/>
          </p:nvPr>
        </p:nvSpPr>
        <p:spPr>
          <a:xfrm>
            <a:off x="5195935" y="118913"/>
            <a:ext cx="1643700" cy="1535100"/>
          </a:xfrm>
          <a:prstGeom prst="rect">
            <a:avLst/>
          </a:prstGeom>
          <a:noFill/>
          <a:ln>
            <a:noFill/>
          </a:ln>
        </p:spPr>
      </p:sp>
      <p:sp>
        <p:nvSpPr>
          <p:cNvPr id="261" name="Google Shape;261;p37"/>
          <p:cNvSpPr/>
          <p:nvPr>
            <p:ph idx="4" type="pic"/>
          </p:nvPr>
        </p:nvSpPr>
        <p:spPr>
          <a:xfrm>
            <a:off x="7002270" y="118913"/>
            <a:ext cx="1643700" cy="1535100"/>
          </a:xfrm>
          <a:prstGeom prst="rect">
            <a:avLst/>
          </a:prstGeom>
          <a:noFill/>
          <a:ln>
            <a:noFill/>
          </a:ln>
        </p:spPr>
      </p:sp>
      <p:sp>
        <p:nvSpPr>
          <p:cNvPr id="262" name="Google Shape;262;p37"/>
          <p:cNvSpPr/>
          <p:nvPr>
            <p:ph idx="5" type="pic"/>
          </p:nvPr>
        </p:nvSpPr>
        <p:spPr>
          <a:xfrm>
            <a:off x="3389588" y="1804212"/>
            <a:ext cx="1643700" cy="1535100"/>
          </a:xfrm>
          <a:prstGeom prst="rect">
            <a:avLst/>
          </a:prstGeom>
          <a:noFill/>
          <a:ln>
            <a:noFill/>
          </a:ln>
        </p:spPr>
      </p:sp>
      <p:sp>
        <p:nvSpPr>
          <p:cNvPr id="263" name="Google Shape;263;p37"/>
          <p:cNvSpPr/>
          <p:nvPr>
            <p:ph idx="6" type="pic"/>
          </p:nvPr>
        </p:nvSpPr>
        <p:spPr>
          <a:xfrm>
            <a:off x="5195922" y="1804212"/>
            <a:ext cx="1643700" cy="1535100"/>
          </a:xfrm>
          <a:prstGeom prst="rect">
            <a:avLst/>
          </a:prstGeom>
          <a:noFill/>
          <a:ln>
            <a:noFill/>
          </a:ln>
        </p:spPr>
      </p:sp>
      <p:sp>
        <p:nvSpPr>
          <p:cNvPr id="264" name="Google Shape;264;p37"/>
          <p:cNvSpPr/>
          <p:nvPr>
            <p:ph idx="7" type="pic"/>
          </p:nvPr>
        </p:nvSpPr>
        <p:spPr>
          <a:xfrm>
            <a:off x="7002257" y="1804212"/>
            <a:ext cx="1643700" cy="1535100"/>
          </a:xfrm>
          <a:prstGeom prst="rect">
            <a:avLst/>
          </a:prstGeom>
          <a:noFill/>
          <a:ln>
            <a:noFill/>
          </a:ln>
        </p:spPr>
      </p:sp>
      <p:sp>
        <p:nvSpPr>
          <p:cNvPr id="265" name="Google Shape;265;p37"/>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66" name="Google Shape;266;p37"/>
          <p:cNvSpPr/>
          <p:nvPr>
            <p:ph idx="8" type="pic"/>
          </p:nvPr>
        </p:nvSpPr>
        <p:spPr>
          <a:xfrm>
            <a:off x="3389588" y="3489487"/>
            <a:ext cx="1643700" cy="1535100"/>
          </a:xfrm>
          <a:prstGeom prst="rect">
            <a:avLst/>
          </a:prstGeom>
          <a:noFill/>
          <a:ln>
            <a:noFill/>
          </a:ln>
        </p:spPr>
      </p:sp>
      <p:sp>
        <p:nvSpPr>
          <p:cNvPr id="267" name="Google Shape;267;p37"/>
          <p:cNvSpPr/>
          <p:nvPr>
            <p:ph idx="9" type="pic"/>
          </p:nvPr>
        </p:nvSpPr>
        <p:spPr>
          <a:xfrm>
            <a:off x="5195922" y="3489487"/>
            <a:ext cx="1643700" cy="1535100"/>
          </a:xfrm>
          <a:prstGeom prst="rect">
            <a:avLst/>
          </a:prstGeom>
          <a:noFill/>
          <a:ln>
            <a:noFill/>
          </a:ln>
        </p:spPr>
      </p:sp>
      <p:sp>
        <p:nvSpPr>
          <p:cNvPr id="268" name="Google Shape;268;p3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0" name="Shape 2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2.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7" name="Google Shape;7;p1"/>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nvSpPr>
        <p:spPr>
          <a:xfrm>
            <a:off x="283970" y="3751619"/>
            <a:ext cx="64251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Group 5: Aren Mizuno, Daniel Babnigg, Emily Xue, Hoon Yum</a:t>
            </a:r>
            <a:endParaRPr sz="1000">
              <a:solidFill>
                <a:schemeClr val="lt1"/>
              </a:solidFill>
              <a:latin typeface="Lato"/>
              <a:ea typeface="Lato"/>
              <a:cs typeface="Lato"/>
              <a:sym typeface="Lato"/>
            </a:endParaRPr>
          </a:p>
        </p:txBody>
      </p:sp>
      <p:sp>
        <p:nvSpPr>
          <p:cNvPr id="276" name="Google Shape;276;p40"/>
          <p:cNvSpPr txBox="1"/>
          <p:nvPr/>
        </p:nvSpPr>
        <p:spPr>
          <a:xfrm>
            <a:off x="283970" y="4471019"/>
            <a:ext cx="64251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Machine Learning I</a:t>
            </a:r>
            <a:endParaRPr sz="1000">
              <a:solidFill>
                <a:schemeClr val="lt1"/>
              </a:solidFill>
              <a:latin typeface="Lato"/>
              <a:ea typeface="Lato"/>
              <a:cs typeface="Lato"/>
              <a:sym typeface="Lato"/>
            </a:endParaRPr>
          </a:p>
        </p:txBody>
      </p:sp>
      <p:sp>
        <p:nvSpPr>
          <p:cNvPr id="277" name="Google Shape;277;p40"/>
          <p:cNvSpPr txBox="1"/>
          <p:nvPr/>
        </p:nvSpPr>
        <p:spPr>
          <a:xfrm>
            <a:off x="283943" y="4111313"/>
            <a:ext cx="64251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March 9, 2026</a:t>
            </a:r>
            <a:endParaRPr sz="1000">
              <a:solidFill>
                <a:schemeClr val="lt1"/>
              </a:solidFill>
              <a:latin typeface="Lato"/>
              <a:ea typeface="Lato"/>
              <a:cs typeface="Lato"/>
              <a:sym typeface="Lato"/>
            </a:endParaRPr>
          </a:p>
        </p:txBody>
      </p:sp>
      <p:cxnSp>
        <p:nvCxnSpPr>
          <p:cNvPr id="278" name="Google Shape;278;p40"/>
          <p:cNvCxnSpPr/>
          <p:nvPr/>
        </p:nvCxnSpPr>
        <p:spPr>
          <a:xfrm rot="10800000">
            <a:off x="283800" y="3964328"/>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279" name="Google Shape;279;p40"/>
          <p:cNvCxnSpPr/>
          <p:nvPr/>
        </p:nvCxnSpPr>
        <p:spPr>
          <a:xfrm rot="10800000">
            <a:off x="283800" y="4324039"/>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280" name="Google Shape;280;p40"/>
          <p:cNvCxnSpPr/>
          <p:nvPr/>
        </p:nvCxnSpPr>
        <p:spPr>
          <a:xfrm rot="10800000">
            <a:off x="283800" y="4683725"/>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281" name="Google Shape;281;p40"/>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282" name="Google Shape;282;p40"/>
          <p:cNvCxnSpPr/>
          <p:nvPr/>
        </p:nvCxnSpPr>
        <p:spPr>
          <a:xfrm rot="10800000">
            <a:off x="283800" y="3604625"/>
            <a:ext cx="6425100" cy="0"/>
          </a:xfrm>
          <a:prstGeom prst="straightConnector1">
            <a:avLst/>
          </a:prstGeom>
          <a:noFill/>
          <a:ln cap="flat" cmpd="sng" w="9525">
            <a:solidFill>
              <a:schemeClr val="lt2"/>
            </a:solidFill>
            <a:prstDash val="solid"/>
            <a:round/>
            <a:headEnd len="med" w="med" type="none"/>
            <a:tailEnd len="med" w="med" type="none"/>
          </a:ln>
        </p:spPr>
      </p:cxnSp>
      <p:pic>
        <p:nvPicPr>
          <p:cNvPr descr="An architectural detail of a modern building." id="283" name="Google Shape;283;p40"/>
          <p:cNvPicPr preferRelativeResize="0"/>
          <p:nvPr>
            <p:ph idx="2" type="pic"/>
          </p:nvPr>
        </p:nvPicPr>
        <p:blipFill rotWithShape="1">
          <a:blip r:embed="rId3">
            <a:alphaModFix/>
          </a:blip>
          <a:srcRect b="0" l="61985" r="8587" t="0"/>
          <a:stretch/>
        </p:blipFill>
        <p:spPr>
          <a:xfrm>
            <a:off x="6877050" y="0"/>
            <a:ext cx="2271002" cy="5143501"/>
          </a:xfrm>
          <a:prstGeom prst="rect">
            <a:avLst/>
          </a:prstGeom>
          <a:noFill/>
          <a:ln>
            <a:noFill/>
          </a:ln>
        </p:spPr>
      </p:pic>
      <p:sp>
        <p:nvSpPr>
          <p:cNvPr id="284" name="Google Shape;284;p40"/>
          <p:cNvSpPr txBox="1"/>
          <p:nvPr>
            <p:ph idx="4294967295" type="title"/>
          </p:nvPr>
        </p:nvSpPr>
        <p:spPr>
          <a:xfrm>
            <a:off x="278750" y="513900"/>
            <a:ext cx="5802000" cy="2355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Supply Chain Resilience Initiative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idx="5" type="body"/>
          </p:nvPr>
        </p:nvSpPr>
        <p:spPr>
          <a:xfrm>
            <a:off x="4998039" y="3042774"/>
            <a:ext cx="1822200" cy="1143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100"/>
              <a:t>Deploying our model enables proactive risk management that could create $11.7M in net savings per year, assuming a 50% intervention success rate.</a:t>
            </a:r>
            <a:endParaRPr sz="1100"/>
          </a:p>
        </p:txBody>
      </p:sp>
      <p:pic>
        <p:nvPicPr>
          <p:cNvPr id="290" name="Google Shape;290;p41"/>
          <p:cNvPicPr preferRelativeResize="0"/>
          <p:nvPr/>
        </p:nvPicPr>
        <p:blipFill rotWithShape="1">
          <a:blip r:embed="rId3">
            <a:alphaModFix/>
          </a:blip>
          <a:srcRect b="33044" l="0" r="0" t="33047"/>
          <a:stretch/>
        </p:blipFill>
        <p:spPr>
          <a:xfrm>
            <a:off x="6877850" y="0"/>
            <a:ext cx="2266146" cy="1152051"/>
          </a:xfrm>
          <a:prstGeom prst="rect">
            <a:avLst/>
          </a:prstGeom>
          <a:noFill/>
          <a:ln>
            <a:noFill/>
          </a:ln>
        </p:spPr>
      </p:pic>
      <p:sp>
        <p:nvSpPr>
          <p:cNvPr id="291" name="Google Shape;291;p4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descr="An architectural detail of a modern building." id="292" name="Google Shape;292;p41"/>
          <p:cNvPicPr preferRelativeResize="0"/>
          <p:nvPr>
            <p:ph idx="2" type="pic"/>
          </p:nvPr>
        </p:nvPicPr>
        <p:blipFill rotWithShape="1">
          <a:blip r:embed="rId4">
            <a:alphaModFix/>
          </a:blip>
          <a:srcRect b="33062" l="0" r="0" t="33066"/>
          <a:stretch/>
        </p:blipFill>
        <p:spPr>
          <a:xfrm>
            <a:off x="6802800" y="0"/>
            <a:ext cx="2341200" cy="1189801"/>
          </a:xfrm>
          <a:prstGeom prst="rect">
            <a:avLst/>
          </a:prstGeom>
        </p:spPr>
      </p:pic>
      <p:sp>
        <p:nvSpPr>
          <p:cNvPr id="293" name="Google Shape;293;p41"/>
          <p:cNvSpPr txBox="1"/>
          <p:nvPr>
            <p:ph idx="1" type="subTitle"/>
          </p:nvPr>
        </p:nvSpPr>
        <p:spPr>
          <a:xfrm>
            <a:off x="4998040" y="2685275"/>
            <a:ext cx="18222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Financial Impact</a:t>
            </a:r>
            <a:endParaRPr sz="1600"/>
          </a:p>
        </p:txBody>
      </p:sp>
      <p:sp>
        <p:nvSpPr>
          <p:cNvPr id="294" name="Google Shape;294;p41"/>
          <p:cNvSpPr txBox="1"/>
          <p:nvPr>
            <p:ph idx="3" type="subTitle"/>
          </p:nvPr>
        </p:nvSpPr>
        <p:spPr>
          <a:xfrm>
            <a:off x="7033762" y="2685275"/>
            <a:ext cx="18255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Recommendations</a:t>
            </a:r>
            <a:endParaRPr sz="1600"/>
          </a:p>
        </p:txBody>
      </p:sp>
      <p:sp>
        <p:nvSpPr>
          <p:cNvPr id="295" name="Google Shape;295;p41"/>
          <p:cNvSpPr txBox="1"/>
          <p:nvPr>
            <p:ph idx="6" type="body"/>
          </p:nvPr>
        </p:nvSpPr>
        <p:spPr>
          <a:xfrm>
            <a:off x="7033764" y="3042774"/>
            <a:ext cx="1825500" cy="133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100"/>
              <a:t>Our recommendations include reassigning to alternative routes or higher-scoring drivers, as well as pre-staging and confirming assignments for crew and equipment before dispatch.</a:t>
            </a:r>
            <a:endParaRPr sz="1100"/>
          </a:p>
        </p:txBody>
      </p:sp>
      <p:cxnSp>
        <p:nvCxnSpPr>
          <p:cNvPr id="296" name="Google Shape;296;p41"/>
          <p:cNvCxnSpPr/>
          <p:nvPr/>
        </p:nvCxnSpPr>
        <p:spPr>
          <a:xfrm>
            <a:off x="926600" y="2447000"/>
            <a:ext cx="7932600" cy="0"/>
          </a:xfrm>
          <a:prstGeom prst="straightConnector1">
            <a:avLst/>
          </a:prstGeom>
          <a:noFill/>
          <a:ln cap="flat" cmpd="sng" w="9525">
            <a:solidFill>
              <a:schemeClr val="lt2"/>
            </a:solidFill>
            <a:prstDash val="solid"/>
            <a:round/>
            <a:headEnd len="med" w="med" type="none"/>
            <a:tailEnd len="med" w="med" type="none"/>
          </a:ln>
        </p:spPr>
      </p:cxnSp>
      <p:sp>
        <p:nvSpPr>
          <p:cNvPr id="297" name="Google Shape;297;p41"/>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8" name="Google Shape;298;p41"/>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Executive Summary</a:t>
            </a:r>
            <a:endParaRPr sz="2800">
              <a:solidFill>
                <a:srgbClr val="1C2026"/>
              </a:solidFill>
              <a:latin typeface="Playfair Display"/>
              <a:ea typeface="Playfair Display"/>
              <a:cs typeface="Playfair Display"/>
              <a:sym typeface="Playfair Display"/>
            </a:endParaRPr>
          </a:p>
        </p:txBody>
      </p:sp>
      <p:sp>
        <p:nvSpPr>
          <p:cNvPr id="299" name="Google Shape;299;p41"/>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01</a:t>
            </a:r>
            <a:endParaRPr>
              <a:solidFill>
                <a:srgbClr val="1C2026"/>
              </a:solidFill>
              <a:latin typeface="Playfair Display"/>
              <a:ea typeface="Playfair Display"/>
              <a:cs typeface="Playfair Display"/>
              <a:sym typeface="Playfair Display"/>
            </a:endParaRPr>
          </a:p>
        </p:txBody>
      </p:sp>
      <p:sp>
        <p:nvSpPr>
          <p:cNvPr id="300" name="Google Shape;300;p41"/>
          <p:cNvSpPr txBox="1"/>
          <p:nvPr>
            <p:ph idx="5" type="body"/>
          </p:nvPr>
        </p:nvSpPr>
        <p:spPr>
          <a:xfrm>
            <a:off x="2962320" y="3042774"/>
            <a:ext cx="1822200" cy="1143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100"/>
              <a:t>We built a </a:t>
            </a:r>
            <a:r>
              <a:rPr lang="en" sz="1100"/>
              <a:t>linear regression model that </a:t>
            </a:r>
            <a:r>
              <a:rPr lang="en" sz="1100"/>
              <a:t>explains 45% of delivery time deviation using pre-departure signals</a:t>
            </a:r>
            <a:r>
              <a:rPr lang="en" sz="1100"/>
              <a:t>, which enables preemptive action for the highest-risk shipments.</a:t>
            </a:r>
            <a:endParaRPr sz="1100"/>
          </a:p>
        </p:txBody>
      </p:sp>
      <p:sp>
        <p:nvSpPr>
          <p:cNvPr id="301" name="Google Shape;301;p41"/>
          <p:cNvSpPr txBox="1"/>
          <p:nvPr>
            <p:ph idx="1" type="subTitle"/>
          </p:nvPr>
        </p:nvSpPr>
        <p:spPr>
          <a:xfrm>
            <a:off x="2962320" y="2685275"/>
            <a:ext cx="18222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Model Selection</a:t>
            </a:r>
            <a:endParaRPr sz="1600"/>
          </a:p>
        </p:txBody>
      </p:sp>
      <p:sp>
        <p:nvSpPr>
          <p:cNvPr id="302" name="Google Shape;302;p41"/>
          <p:cNvSpPr txBox="1"/>
          <p:nvPr>
            <p:ph idx="5" type="body"/>
          </p:nvPr>
        </p:nvSpPr>
        <p:spPr>
          <a:xfrm>
            <a:off x="926600" y="3042774"/>
            <a:ext cx="1822200" cy="1143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100"/>
              <a:t>LogistiCorp lacks a forward-looking, proactive risk management system to predict shipment disruption probability and delay severity  before dispatch.</a:t>
            </a:r>
            <a:endParaRPr sz="1100"/>
          </a:p>
        </p:txBody>
      </p:sp>
      <p:sp>
        <p:nvSpPr>
          <p:cNvPr id="303" name="Google Shape;303;p41"/>
          <p:cNvSpPr txBox="1"/>
          <p:nvPr>
            <p:ph idx="1" type="subTitle"/>
          </p:nvPr>
        </p:nvSpPr>
        <p:spPr>
          <a:xfrm>
            <a:off x="926600" y="2685275"/>
            <a:ext cx="18222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Problem Definition</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descr="The white facade of a modern building under a bright blue sky. " id="308" name="Google Shape;308;p42"/>
          <p:cNvPicPr preferRelativeResize="0"/>
          <p:nvPr>
            <p:ph idx="2" type="pic"/>
          </p:nvPr>
        </p:nvPicPr>
        <p:blipFill rotWithShape="1">
          <a:blip r:embed="rId3">
            <a:alphaModFix/>
          </a:blip>
          <a:srcRect b="0" l="0" r="34193" t="0"/>
          <a:stretch/>
        </p:blipFill>
        <p:spPr>
          <a:xfrm>
            <a:off x="0" y="0"/>
            <a:ext cx="4348800" cy="5143499"/>
          </a:xfrm>
          <a:prstGeom prst="rect">
            <a:avLst/>
          </a:prstGeom>
        </p:spPr>
      </p:pic>
      <p:sp>
        <p:nvSpPr>
          <p:cNvPr id="309" name="Google Shape;309;p4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10" name="Google Shape;310;p42"/>
          <p:cNvSpPr txBox="1"/>
          <p:nvPr>
            <p:ph type="title"/>
          </p:nvPr>
        </p:nvSpPr>
        <p:spPr>
          <a:xfrm>
            <a:off x="4618950" y="457200"/>
            <a:ext cx="4251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Problem Definition</a:t>
            </a:r>
            <a:endParaRPr/>
          </a:p>
        </p:txBody>
      </p:sp>
      <p:sp>
        <p:nvSpPr>
          <p:cNvPr id="311" name="Google Shape;311;p42"/>
          <p:cNvSpPr txBox="1"/>
          <p:nvPr>
            <p:ph idx="3" type="subTitle"/>
          </p:nvPr>
        </p:nvSpPr>
        <p:spPr>
          <a:xfrm>
            <a:off x="4618950" y="1276750"/>
            <a:ext cx="4251600" cy="34068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latin typeface="Lato"/>
                <a:ea typeface="Lato"/>
                <a:cs typeface="Lato"/>
                <a:sym typeface="Lato"/>
              </a:rPr>
              <a:t>LogistiCorp lacks a </a:t>
            </a:r>
            <a:r>
              <a:rPr b="1" lang="en">
                <a:latin typeface="Lato"/>
                <a:ea typeface="Lato"/>
                <a:cs typeface="Lato"/>
                <a:sym typeface="Lato"/>
              </a:rPr>
              <a:t>forward-looking, proactive risk management system</a:t>
            </a:r>
            <a:r>
              <a:rPr lang="en">
                <a:latin typeface="Lato"/>
                <a:ea typeface="Lato"/>
                <a:cs typeface="Lato"/>
                <a:sym typeface="Lato"/>
              </a:rPr>
              <a:t> to identify high-value, high-risk shipments before dispatch</a:t>
            </a:r>
            <a:r>
              <a:rPr lang="en">
                <a:latin typeface="Lato"/>
                <a:ea typeface="Lato"/>
                <a:cs typeface="Lato"/>
                <a:sym typeface="Lato"/>
              </a:rPr>
              <a:t>.</a:t>
            </a:r>
            <a:endParaRPr>
              <a:latin typeface="Lato"/>
              <a:ea typeface="Lato"/>
              <a:cs typeface="Lato"/>
              <a:sym typeface="Lato"/>
            </a:endParaRPr>
          </a:p>
          <a:p>
            <a:pPr indent="0" lvl="0" marL="0" rtl="0" algn="l">
              <a:lnSpc>
                <a:spcPct val="115000"/>
              </a:lnSpc>
              <a:spcBef>
                <a:spcPts val="0"/>
              </a:spcBef>
              <a:spcAft>
                <a:spcPts val="0"/>
              </a:spcAft>
              <a:buNone/>
            </a:pPr>
            <a:r>
              <a:t/>
            </a:r>
            <a:endParaRPr>
              <a:latin typeface="Lato"/>
              <a:ea typeface="Lato"/>
              <a:cs typeface="Lato"/>
              <a:sym typeface="Lato"/>
            </a:endParaRPr>
          </a:p>
          <a:p>
            <a:pPr indent="0" lvl="0" marL="0" rtl="0" algn="l">
              <a:lnSpc>
                <a:spcPct val="115000"/>
              </a:lnSpc>
              <a:spcBef>
                <a:spcPts val="0"/>
              </a:spcBef>
              <a:spcAft>
                <a:spcPts val="0"/>
              </a:spcAft>
              <a:buNone/>
            </a:pPr>
            <a:r>
              <a:rPr lang="en">
                <a:latin typeface="Lato"/>
                <a:ea typeface="Lato"/>
                <a:cs typeface="Lato"/>
                <a:sym typeface="Lato"/>
              </a:rPr>
              <a:t>This </a:t>
            </a:r>
            <a:r>
              <a:rPr lang="en">
                <a:latin typeface="Lato"/>
                <a:ea typeface="Lato"/>
                <a:cs typeface="Lato"/>
                <a:sym typeface="Lato"/>
              </a:rPr>
              <a:t>results in </a:t>
            </a:r>
            <a:r>
              <a:rPr b="1" lang="en">
                <a:latin typeface="Lato"/>
                <a:ea typeface="Lato"/>
                <a:cs typeface="Lato"/>
                <a:sym typeface="Lato"/>
              </a:rPr>
              <a:t>avoidable financial penalties and </a:t>
            </a:r>
            <a:r>
              <a:rPr b="1" lang="en">
                <a:latin typeface="Lato"/>
                <a:ea typeface="Lato"/>
                <a:cs typeface="Lato"/>
                <a:sym typeface="Lato"/>
              </a:rPr>
              <a:t>contract renewal risk</a:t>
            </a:r>
            <a:r>
              <a:rPr lang="en">
                <a:latin typeface="Lato"/>
                <a:ea typeface="Lato"/>
                <a:cs typeface="Lato"/>
                <a:sym typeface="Lato"/>
              </a:rPr>
              <a:t> among its clients due to erosion of trust.</a:t>
            </a:r>
            <a:endParaRPr>
              <a:latin typeface="Lato"/>
              <a:ea typeface="Lato"/>
              <a:cs typeface="Lato"/>
              <a:sym typeface="Lato"/>
            </a:endParaRPr>
          </a:p>
          <a:p>
            <a:pPr indent="0" lvl="0" marL="0" rtl="0" algn="l">
              <a:lnSpc>
                <a:spcPct val="115000"/>
              </a:lnSpc>
              <a:spcBef>
                <a:spcPts val="0"/>
              </a:spcBef>
              <a:spcAft>
                <a:spcPts val="0"/>
              </a:spcAft>
              <a:buNone/>
            </a:pPr>
            <a:r>
              <a:t/>
            </a:r>
            <a:endParaRPr>
              <a:latin typeface="Lato"/>
              <a:ea typeface="Lato"/>
              <a:cs typeface="Lato"/>
              <a:sym typeface="Lato"/>
            </a:endParaRPr>
          </a:p>
          <a:p>
            <a:pPr indent="0" lvl="0" marL="0" rtl="0" algn="l">
              <a:lnSpc>
                <a:spcPct val="115000"/>
              </a:lnSpc>
              <a:spcBef>
                <a:spcPts val="0"/>
              </a:spcBef>
              <a:spcAft>
                <a:spcPts val="0"/>
              </a:spcAft>
              <a:buNone/>
            </a:pPr>
            <a:r>
              <a:rPr lang="en">
                <a:latin typeface="Lato"/>
                <a:ea typeface="Lato"/>
                <a:cs typeface="Lato"/>
                <a:sym typeface="Lato"/>
              </a:rPr>
              <a:t>If identifiable, pre-departure risk signals can be captured to </a:t>
            </a:r>
            <a:r>
              <a:rPr b="1" lang="en">
                <a:latin typeface="Lato"/>
                <a:ea typeface="Lato"/>
                <a:cs typeface="Lato"/>
                <a:sym typeface="Lato"/>
              </a:rPr>
              <a:t>predict disruption probability and delay severity before dispatch</a:t>
            </a:r>
            <a:r>
              <a:rPr lang="en">
                <a:latin typeface="Lato"/>
                <a:ea typeface="Lato"/>
                <a:cs typeface="Lato"/>
                <a:sym typeface="Lato"/>
              </a:rPr>
              <a:t>, LogistiCorp can assign a shipment-level risk score to enable preemptive action and proactively manage risk.</a:t>
            </a:r>
            <a:endParaRPr>
              <a:latin typeface="Lato"/>
              <a:ea typeface="Lato"/>
              <a:cs typeface="Lato"/>
              <a:sym typeface="Lato"/>
            </a:endParaRPr>
          </a:p>
        </p:txBody>
      </p:sp>
      <p:sp>
        <p:nvSpPr>
          <p:cNvPr id="312" name="Google Shape;312;p42"/>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3" name="Google Shape;313;p42"/>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02</a:t>
            </a:r>
            <a:endParaRPr>
              <a:solidFill>
                <a:srgbClr val="1C2026"/>
              </a:solidFill>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3"/>
          <p:cNvPicPr preferRelativeResize="0"/>
          <p:nvPr/>
        </p:nvPicPr>
        <p:blipFill>
          <a:blip r:embed="rId3">
            <a:alphaModFix/>
          </a:blip>
          <a:stretch>
            <a:fillRect/>
          </a:stretch>
        </p:blipFill>
        <p:spPr>
          <a:xfrm>
            <a:off x="4572000" y="1008175"/>
            <a:ext cx="4386050" cy="3644703"/>
          </a:xfrm>
          <a:prstGeom prst="rect">
            <a:avLst/>
          </a:prstGeom>
          <a:noFill/>
          <a:ln cap="flat" cmpd="sng" w="19050">
            <a:solidFill>
              <a:srgbClr val="1A5276"/>
            </a:solidFill>
            <a:prstDash val="solid"/>
            <a:round/>
            <a:headEnd len="sm" w="sm" type="none"/>
            <a:tailEnd len="sm" w="sm" type="none"/>
          </a:ln>
        </p:spPr>
      </p:pic>
      <p:sp>
        <p:nvSpPr>
          <p:cNvPr id="319" name="Google Shape;319;p43"/>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43"/>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Exploratory Analysis</a:t>
            </a:r>
            <a:endParaRPr sz="2800">
              <a:solidFill>
                <a:srgbClr val="1C2026"/>
              </a:solidFill>
              <a:latin typeface="Playfair Display"/>
              <a:ea typeface="Playfair Display"/>
              <a:cs typeface="Playfair Display"/>
              <a:sym typeface="Playfair Display"/>
            </a:endParaRPr>
          </a:p>
        </p:txBody>
      </p:sp>
      <p:sp>
        <p:nvSpPr>
          <p:cNvPr id="321" name="Google Shape;321;p43"/>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03</a:t>
            </a:r>
            <a:endParaRPr>
              <a:solidFill>
                <a:srgbClr val="1C2026"/>
              </a:solidFill>
              <a:latin typeface="Playfair Display"/>
              <a:ea typeface="Playfair Display"/>
              <a:cs typeface="Playfair Display"/>
              <a:sym typeface="Playfair Display"/>
            </a:endParaRPr>
          </a:p>
        </p:txBody>
      </p:sp>
      <p:sp>
        <p:nvSpPr>
          <p:cNvPr id="322" name="Google Shape;322;p43"/>
          <p:cNvSpPr txBox="1"/>
          <p:nvPr/>
        </p:nvSpPr>
        <p:spPr>
          <a:xfrm>
            <a:off x="276075" y="997500"/>
            <a:ext cx="4296000" cy="36489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Dataset:</a:t>
            </a:r>
            <a:r>
              <a:rPr lang="en">
                <a:solidFill>
                  <a:srgbClr val="1C2026"/>
                </a:solidFill>
                <a:latin typeface="Lato"/>
                <a:ea typeface="Lato"/>
                <a:cs typeface="Lato"/>
                <a:sym typeface="Lato"/>
              </a:rPr>
              <a:t> 20 columns of shipment-level data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~32k shipments over 3.7 years</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(GPS, operations, weather, supplier scores, delivery outcomes)</a:t>
            </a:r>
            <a:br>
              <a:rPr lang="en" sz="1000">
                <a:solidFill>
                  <a:srgbClr val="1C2026"/>
                </a:solidFill>
                <a:latin typeface="Lato"/>
                <a:ea typeface="Lato"/>
                <a:cs typeface="Lato"/>
                <a:sym typeface="Lato"/>
              </a:rPr>
            </a:br>
            <a:endParaRPr>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Target:</a:t>
            </a:r>
            <a:r>
              <a:rPr lang="en">
                <a:solidFill>
                  <a:srgbClr val="1C2026"/>
                </a:solidFill>
                <a:latin typeface="Lato"/>
                <a:ea typeface="Lato"/>
                <a:cs typeface="Lato"/>
                <a:sym typeface="Lato"/>
              </a:rPr>
              <a:t> </a:t>
            </a:r>
            <a:r>
              <a:rPr lang="en">
                <a:solidFill>
                  <a:srgbClr val="1A5276"/>
                </a:solidFill>
                <a:latin typeface="Roboto Mono"/>
                <a:ea typeface="Roboto Mono"/>
                <a:cs typeface="Roboto Mono"/>
                <a:sym typeface="Roboto Mono"/>
              </a:rPr>
              <a:t>delivery_time_deviation</a:t>
            </a:r>
            <a:r>
              <a:rPr lang="en">
                <a:solidFill>
                  <a:srgbClr val="1C2026"/>
                </a:solidFill>
                <a:latin typeface="Lato"/>
                <a:ea typeface="Lato"/>
                <a:cs typeface="Lato"/>
                <a:sym typeface="Lato"/>
              </a:rPr>
              <a:t> (hours)</a:t>
            </a:r>
            <a:endParaRPr>
              <a:solidFill>
                <a:srgbClr val="1C2026"/>
              </a:solidFill>
              <a:latin typeface="Lato"/>
              <a:ea typeface="Lato"/>
              <a:cs typeface="Lato"/>
              <a:sym typeface="Lato"/>
            </a:endParaRPr>
          </a:p>
          <a:p>
            <a:pPr indent="0" lvl="0" marL="457200" rtl="0" algn="l">
              <a:lnSpc>
                <a:spcPct val="115000"/>
              </a:lnSpc>
              <a:spcBef>
                <a:spcPts val="0"/>
              </a:spcBef>
              <a:spcAft>
                <a:spcPts val="0"/>
              </a:spcAft>
              <a:buNone/>
            </a:pPr>
            <a:r>
              <a:rPr lang="en" sz="1200">
                <a:solidFill>
                  <a:srgbClr val="1C2026"/>
                </a:solidFill>
                <a:latin typeface="Lato"/>
                <a:ea typeface="Lato"/>
                <a:cs typeface="Lato"/>
                <a:sym typeface="Lato"/>
              </a:rPr>
              <a:t>predicting deviation enables proactive intervention before departure to avoid late-delivery penalties</a:t>
            </a:r>
            <a:br>
              <a:rPr i="1" lang="en" sz="1000">
                <a:solidFill>
                  <a:srgbClr val="1C2026"/>
                </a:solidFill>
                <a:latin typeface="Lato"/>
                <a:ea typeface="Lato"/>
                <a:cs typeface="Lato"/>
                <a:sym typeface="Lato"/>
              </a:rPr>
            </a:br>
            <a:endParaRPr>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Data quality:</a:t>
            </a:r>
            <a:r>
              <a:rPr lang="en">
                <a:solidFill>
                  <a:srgbClr val="1C2026"/>
                </a:solidFill>
                <a:latin typeface="Lato"/>
                <a:ea typeface="Lato"/>
                <a:cs typeface="Lato"/>
                <a:sym typeface="Lato"/>
              </a:rPr>
              <a:t>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~2% missing; rows dropped</a:t>
            </a:r>
            <a:br>
              <a:rPr lang="en" sz="1000">
                <a:solidFill>
                  <a:srgbClr val="1C2026"/>
                </a:solidFill>
                <a:latin typeface="Lato"/>
                <a:ea typeface="Lato"/>
                <a:cs typeface="Lato"/>
                <a:sym typeface="Lato"/>
              </a:rPr>
            </a:br>
            <a:r>
              <a:rPr lang="en" sz="1000">
                <a:solidFill>
                  <a:srgbClr val="1C2026"/>
                </a:solidFill>
                <a:latin typeface="Lato"/>
                <a:ea typeface="Lato"/>
                <a:cs typeface="Lato"/>
                <a:sym typeface="Lato"/>
              </a:rPr>
              <a:t>no severe outliers; invalid inputs removed</a:t>
            </a:r>
            <a:br>
              <a:rPr lang="en" sz="1000">
                <a:solidFill>
                  <a:srgbClr val="1C2026"/>
                </a:solidFill>
                <a:latin typeface="Lato"/>
                <a:ea typeface="Lato"/>
                <a:cs typeface="Lato"/>
                <a:sym typeface="Lato"/>
              </a:rPr>
            </a:br>
            <a:r>
              <a:rPr lang="en" sz="1000">
                <a:solidFill>
                  <a:srgbClr val="1C2026"/>
                </a:solidFill>
                <a:latin typeface="Lato"/>
                <a:ea typeface="Lato"/>
                <a:cs typeface="Lato"/>
                <a:sym typeface="Lato"/>
              </a:rPr>
              <a:t>weak linear correlations with target</a:t>
            </a:r>
            <a:br>
              <a:rPr lang="en" sz="1000">
                <a:solidFill>
                  <a:srgbClr val="1C2026"/>
                </a:solidFill>
                <a:latin typeface="Lato"/>
                <a:ea typeface="Lato"/>
                <a:cs typeface="Lato"/>
                <a:sym typeface="Lato"/>
              </a:rPr>
            </a:br>
            <a:r>
              <a:rPr lang="en" sz="1000">
                <a:solidFill>
                  <a:srgbClr val="1C2026"/>
                </a:solidFill>
                <a:latin typeface="Lato"/>
                <a:ea typeface="Lato"/>
                <a:cs typeface="Lato"/>
                <a:sym typeface="Lato"/>
              </a:rPr>
              <a:t>no severe multicollinearity</a:t>
            </a:r>
            <a:br>
              <a:rPr lang="en" sz="1000">
                <a:solidFill>
                  <a:srgbClr val="1C2026"/>
                </a:solidFill>
                <a:latin typeface="Lato"/>
                <a:ea typeface="Lato"/>
                <a:cs typeface="Lato"/>
                <a:sym typeface="Lato"/>
              </a:rPr>
            </a:br>
            <a:endParaRPr sz="1000">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Temporal:</a:t>
            </a:r>
            <a:r>
              <a:rPr lang="en">
                <a:solidFill>
                  <a:srgbClr val="1C2026"/>
                </a:solidFill>
                <a:latin typeface="Lato"/>
                <a:ea typeface="Lato"/>
                <a:cs typeface="Lato"/>
                <a:sym typeface="Lato"/>
              </a:rPr>
              <a:t> Uniform daily volume, no trend/seasonality</a:t>
            </a:r>
            <a:endParaRPr>
              <a:solidFill>
                <a:srgbClr val="1C2026"/>
              </a:solidFill>
              <a:latin typeface="Lato"/>
              <a:ea typeface="Lato"/>
              <a:cs typeface="Lato"/>
              <a:sym typeface="Lato"/>
            </a:endParaRPr>
          </a:p>
        </p:txBody>
      </p:sp>
      <p:sp>
        <p:nvSpPr>
          <p:cNvPr id="323" name="Google Shape;323;p4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4"/>
          <p:cNvPicPr preferRelativeResize="0"/>
          <p:nvPr/>
        </p:nvPicPr>
        <p:blipFill>
          <a:blip r:embed="rId3">
            <a:alphaModFix/>
          </a:blip>
          <a:stretch>
            <a:fillRect/>
          </a:stretch>
        </p:blipFill>
        <p:spPr>
          <a:xfrm>
            <a:off x="4612572" y="997500"/>
            <a:ext cx="4312515" cy="3666050"/>
          </a:xfrm>
          <a:prstGeom prst="rect">
            <a:avLst/>
          </a:prstGeom>
          <a:noFill/>
          <a:ln cap="flat" cmpd="sng" w="19050">
            <a:solidFill>
              <a:srgbClr val="1A5276"/>
            </a:solidFill>
            <a:prstDash val="solid"/>
            <a:round/>
            <a:headEnd len="sm" w="sm" type="none"/>
            <a:tailEnd len="sm" w="sm" type="none"/>
          </a:ln>
        </p:spPr>
      </p:pic>
      <p:sp>
        <p:nvSpPr>
          <p:cNvPr id="329" name="Google Shape;329;p44"/>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0" name="Google Shape;330;p44"/>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Data Preprocessing</a:t>
            </a:r>
            <a:endParaRPr sz="2800">
              <a:solidFill>
                <a:srgbClr val="1C2026"/>
              </a:solidFill>
              <a:latin typeface="Playfair Display"/>
              <a:ea typeface="Playfair Display"/>
              <a:cs typeface="Playfair Display"/>
              <a:sym typeface="Playfair Display"/>
            </a:endParaRPr>
          </a:p>
        </p:txBody>
      </p:sp>
      <p:sp>
        <p:nvSpPr>
          <p:cNvPr id="331" name="Google Shape;331;p44"/>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04</a:t>
            </a:r>
            <a:endParaRPr>
              <a:solidFill>
                <a:srgbClr val="1C2026"/>
              </a:solidFill>
              <a:latin typeface="Playfair Display"/>
              <a:ea typeface="Playfair Display"/>
              <a:cs typeface="Playfair Display"/>
              <a:sym typeface="Playfair Display"/>
            </a:endParaRPr>
          </a:p>
        </p:txBody>
      </p:sp>
      <p:sp>
        <p:nvSpPr>
          <p:cNvPr id="332" name="Google Shape;332;p44"/>
          <p:cNvSpPr txBox="1"/>
          <p:nvPr/>
        </p:nvSpPr>
        <p:spPr>
          <a:xfrm>
            <a:off x="276075" y="970075"/>
            <a:ext cx="4251300" cy="37209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Feature selection:</a:t>
            </a:r>
            <a:r>
              <a:rPr lang="en">
                <a:solidFill>
                  <a:srgbClr val="1C2026"/>
                </a:solidFill>
                <a:latin typeface="Lato"/>
                <a:ea typeface="Lato"/>
                <a:cs typeface="Lato"/>
                <a:sym typeface="Lato"/>
              </a:rPr>
              <a:t>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retained </a:t>
            </a:r>
            <a:r>
              <a:rPr lang="en" sz="1000">
                <a:solidFill>
                  <a:srgbClr val="38761D"/>
                </a:solidFill>
                <a:latin typeface="Lato"/>
                <a:ea typeface="Lato"/>
                <a:cs typeface="Lato"/>
                <a:sym typeface="Lato"/>
              </a:rPr>
              <a:t>13 pre-shipment features</a:t>
            </a:r>
            <a:br>
              <a:rPr lang="en">
                <a:solidFill>
                  <a:srgbClr val="38761D"/>
                </a:solidFill>
                <a:latin typeface="Lato"/>
                <a:ea typeface="Lato"/>
                <a:cs typeface="Lato"/>
                <a:sym typeface="Lato"/>
              </a:rPr>
            </a:br>
            <a:r>
              <a:rPr lang="en" sz="1000">
                <a:solidFill>
                  <a:srgbClr val="1C2026"/>
                </a:solidFill>
                <a:latin typeface="Lato"/>
                <a:ea typeface="Lato"/>
                <a:cs typeface="Lato"/>
                <a:sym typeface="Lato"/>
              </a:rPr>
              <a:t>excluded</a:t>
            </a:r>
            <a:r>
              <a:rPr lang="en" sz="1000">
                <a:solidFill>
                  <a:srgbClr val="980000"/>
                </a:solidFill>
                <a:latin typeface="Lato"/>
                <a:ea typeface="Lato"/>
                <a:cs typeface="Lato"/>
                <a:sym typeface="Lato"/>
              </a:rPr>
              <a:t> post-shipment outcomes </a:t>
            </a:r>
            <a:r>
              <a:rPr lang="en" sz="1000">
                <a:solidFill>
                  <a:srgbClr val="1C2026"/>
                </a:solidFill>
                <a:latin typeface="Lato"/>
                <a:ea typeface="Lato"/>
                <a:cs typeface="Lato"/>
                <a:sym typeface="Lato"/>
              </a:rPr>
              <a:t>(leakage)</a:t>
            </a:r>
            <a:r>
              <a:rPr lang="en">
                <a:solidFill>
                  <a:srgbClr val="1C2026"/>
                </a:solidFill>
                <a:latin typeface="Lato"/>
                <a:ea typeface="Lato"/>
                <a:cs typeface="Lato"/>
                <a:sym typeface="Lato"/>
              </a:rPr>
              <a:t>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excluded </a:t>
            </a:r>
            <a:r>
              <a:rPr lang="en" sz="1000">
                <a:solidFill>
                  <a:srgbClr val="B45F06"/>
                </a:solidFill>
                <a:latin typeface="Lato"/>
                <a:ea typeface="Lato"/>
                <a:cs typeface="Lato"/>
                <a:sym typeface="Lato"/>
              </a:rPr>
              <a:t>in-transit sensors</a:t>
            </a:r>
            <a:r>
              <a:rPr lang="en" sz="1000">
                <a:solidFill>
                  <a:srgbClr val="1C2026"/>
                </a:solidFill>
                <a:latin typeface="Lato"/>
                <a:ea typeface="Lato"/>
                <a:cs typeface="Lato"/>
                <a:sym typeface="Lato"/>
              </a:rPr>
              <a:t>, and metadata</a:t>
            </a:r>
            <a:br>
              <a:rPr lang="en" sz="1000">
                <a:solidFill>
                  <a:srgbClr val="1C2026"/>
                </a:solidFill>
                <a:latin typeface="Lato"/>
                <a:ea typeface="Lato"/>
                <a:cs typeface="Lato"/>
                <a:sym typeface="Lato"/>
              </a:rPr>
            </a:br>
            <a:endParaRPr sz="1000">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Feature engineering</a:t>
            </a:r>
            <a:r>
              <a:rPr lang="en">
                <a:solidFill>
                  <a:srgbClr val="1C2026"/>
                </a:solidFill>
                <a:latin typeface="Lato"/>
                <a:ea typeface="Lato"/>
                <a:cs typeface="Lato"/>
                <a:sym typeface="Lato"/>
              </a:rPr>
              <a:t>: </a:t>
            </a:r>
            <a:br>
              <a:rPr lang="en">
                <a:solidFill>
                  <a:srgbClr val="1C2026"/>
                </a:solidFill>
                <a:latin typeface="Lato"/>
                <a:ea typeface="Lato"/>
                <a:cs typeface="Lato"/>
                <a:sym typeface="Lato"/>
              </a:rPr>
            </a:br>
            <a:r>
              <a:rPr lang="en" sz="1000">
                <a:solidFill>
                  <a:srgbClr val="1A5276"/>
                </a:solidFill>
                <a:latin typeface="Roboto Mono"/>
                <a:ea typeface="Roboto Mono"/>
                <a:cs typeface="Roboto Mono"/>
                <a:sym typeface="Roboto Mono"/>
              </a:rPr>
              <a:t>day_of_week</a:t>
            </a:r>
            <a:r>
              <a:rPr lang="en" sz="1000">
                <a:solidFill>
                  <a:srgbClr val="1C2026"/>
                </a:solidFill>
                <a:latin typeface="Lato"/>
                <a:ea typeface="Lato"/>
                <a:cs typeface="Lato"/>
                <a:sym typeface="Lato"/>
              </a:rPr>
              <a:t> (from timestamp)</a:t>
            </a:r>
            <a:br>
              <a:rPr lang="en">
                <a:solidFill>
                  <a:srgbClr val="1C2026"/>
                </a:solidFill>
                <a:latin typeface="Lato"/>
                <a:ea typeface="Lato"/>
                <a:cs typeface="Lato"/>
                <a:sym typeface="Lato"/>
              </a:rPr>
            </a:br>
            <a:r>
              <a:rPr lang="en" sz="1000">
                <a:solidFill>
                  <a:srgbClr val="1A5276"/>
                </a:solidFill>
                <a:latin typeface="Roboto Mono"/>
                <a:ea typeface="Roboto Mono"/>
                <a:cs typeface="Roboto Mono"/>
                <a:sym typeface="Roboto Mono"/>
              </a:rPr>
              <a:t>driver_risk_score</a:t>
            </a:r>
            <a:r>
              <a:rPr lang="en" sz="1000">
                <a:solidFill>
                  <a:srgbClr val="1C2026"/>
                </a:solidFill>
                <a:latin typeface="Lato"/>
                <a:ea typeface="Lato"/>
                <a:cs typeface="Lato"/>
                <a:sym typeface="Lato"/>
              </a:rPr>
              <a:t> (interaction: poor behavior × high fatigue)</a:t>
            </a:r>
            <a:br>
              <a:rPr lang="en" sz="1000">
                <a:solidFill>
                  <a:srgbClr val="1C2026"/>
                </a:solidFill>
                <a:latin typeface="Lato"/>
                <a:ea typeface="Lato"/>
                <a:cs typeface="Lato"/>
                <a:sym typeface="Lato"/>
              </a:rPr>
            </a:br>
            <a:endParaRPr sz="1000">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Encoding: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one-hot encoded day_of_week (drop-first, fit on train only)</a:t>
            </a:r>
            <a:br>
              <a:rPr lang="en" sz="1000">
                <a:solidFill>
                  <a:srgbClr val="1C2026"/>
                </a:solidFill>
                <a:latin typeface="Lato"/>
                <a:ea typeface="Lato"/>
                <a:cs typeface="Lato"/>
                <a:sym typeface="Lato"/>
              </a:rPr>
            </a:br>
            <a:endParaRPr sz="1000">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Train/test split:</a:t>
            </a:r>
            <a:br>
              <a:rPr b="1" lang="en">
                <a:solidFill>
                  <a:srgbClr val="1C2026"/>
                </a:solidFill>
                <a:latin typeface="Lato"/>
                <a:ea typeface="Lato"/>
                <a:cs typeface="Lato"/>
                <a:sym typeface="Lato"/>
              </a:rPr>
            </a:br>
            <a:r>
              <a:rPr lang="en" sz="1000">
                <a:solidFill>
                  <a:srgbClr val="1C2026"/>
                </a:solidFill>
                <a:latin typeface="Lato"/>
                <a:ea typeface="Lato"/>
                <a:cs typeface="Lato"/>
                <a:sym typeface="Lato"/>
              </a:rPr>
              <a:t>80/20 random split; target distribution verified across sets</a:t>
            </a:r>
            <a:br>
              <a:rPr lang="en" sz="1000">
                <a:solidFill>
                  <a:srgbClr val="1C2026"/>
                </a:solidFill>
                <a:latin typeface="Lato"/>
                <a:ea typeface="Lato"/>
                <a:cs typeface="Lato"/>
                <a:sym typeface="Lato"/>
              </a:rPr>
            </a:br>
            <a:endParaRPr sz="1000">
              <a:solidFill>
                <a:srgbClr val="1C2026"/>
              </a:solidFill>
              <a:latin typeface="Lato"/>
              <a:ea typeface="Lato"/>
              <a:cs typeface="Lato"/>
              <a:sym typeface="Lato"/>
            </a:endParaRPr>
          </a:p>
          <a:p>
            <a:pPr indent="-317500" lvl="0" marL="457200" rtl="0" algn="l">
              <a:lnSpc>
                <a:spcPct val="115000"/>
              </a:lnSpc>
              <a:spcBef>
                <a:spcPts val="0"/>
              </a:spcBef>
              <a:spcAft>
                <a:spcPts val="0"/>
              </a:spcAft>
              <a:buClr>
                <a:srgbClr val="1C2026"/>
              </a:buClr>
              <a:buSzPts val="1400"/>
              <a:buFont typeface="Lato"/>
              <a:buChar char="●"/>
            </a:pPr>
            <a:r>
              <a:rPr b="1" lang="en">
                <a:solidFill>
                  <a:srgbClr val="1C2026"/>
                </a:solidFill>
                <a:latin typeface="Lato"/>
                <a:ea typeface="Lato"/>
                <a:cs typeface="Lato"/>
                <a:sym typeface="Lato"/>
              </a:rPr>
              <a:t>Scaling:</a:t>
            </a:r>
            <a:r>
              <a:rPr lang="en">
                <a:solidFill>
                  <a:srgbClr val="1C2026"/>
                </a:solidFill>
                <a:latin typeface="Lato"/>
                <a:ea typeface="Lato"/>
                <a:cs typeface="Lato"/>
                <a:sym typeface="Lato"/>
              </a:rPr>
              <a:t> </a:t>
            </a:r>
            <a:br>
              <a:rPr lang="en">
                <a:solidFill>
                  <a:srgbClr val="1C2026"/>
                </a:solidFill>
                <a:latin typeface="Lato"/>
                <a:ea typeface="Lato"/>
                <a:cs typeface="Lato"/>
                <a:sym typeface="Lato"/>
              </a:rPr>
            </a:br>
            <a:r>
              <a:rPr lang="en" sz="1000">
                <a:solidFill>
                  <a:srgbClr val="1C2026"/>
                </a:solidFill>
                <a:latin typeface="Lato"/>
                <a:ea typeface="Lato"/>
                <a:cs typeface="Lato"/>
                <a:sym typeface="Lato"/>
              </a:rPr>
              <a:t>StandardScaler inside Pipeline for linear models </a:t>
            </a:r>
            <a:br>
              <a:rPr lang="en" sz="1000">
                <a:solidFill>
                  <a:srgbClr val="1C2026"/>
                </a:solidFill>
                <a:latin typeface="Lato"/>
                <a:ea typeface="Lato"/>
                <a:cs typeface="Lato"/>
                <a:sym typeface="Lato"/>
              </a:rPr>
            </a:br>
            <a:r>
              <a:rPr lang="en" sz="1000">
                <a:solidFill>
                  <a:srgbClr val="1C2026"/>
                </a:solidFill>
                <a:latin typeface="Lato"/>
                <a:ea typeface="Lato"/>
                <a:cs typeface="Lato"/>
                <a:sym typeface="Lato"/>
              </a:rPr>
              <a:t>unscaled for tree-based models </a:t>
            </a:r>
            <a:endParaRPr sz="1000">
              <a:solidFill>
                <a:srgbClr val="1C2026"/>
              </a:solidFill>
              <a:latin typeface="Lato"/>
              <a:ea typeface="Lato"/>
              <a:cs typeface="Lato"/>
              <a:sym typeface="Lato"/>
            </a:endParaRPr>
          </a:p>
        </p:txBody>
      </p:sp>
      <p:sp>
        <p:nvSpPr>
          <p:cNvPr id="333" name="Google Shape;333;p4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5"/>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45"/>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Model Selection &amp; Performance</a:t>
            </a:r>
            <a:endParaRPr sz="2800">
              <a:solidFill>
                <a:srgbClr val="1C2026"/>
              </a:solidFill>
              <a:latin typeface="Playfair Display"/>
              <a:ea typeface="Playfair Display"/>
              <a:cs typeface="Playfair Display"/>
              <a:sym typeface="Playfair Display"/>
            </a:endParaRPr>
          </a:p>
        </p:txBody>
      </p:sp>
      <p:sp>
        <p:nvSpPr>
          <p:cNvPr id="340" name="Google Shape;340;p45"/>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05</a:t>
            </a:r>
            <a:endParaRPr>
              <a:solidFill>
                <a:srgbClr val="1C2026"/>
              </a:solidFill>
              <a:latin typeface="Playfair Display"/>
              <a:ea typeface="Playfair Display"/>
              <a:cs typeface="Playfair Display"/>
              <a:sym typeface="Playfair Display"/>
            </a:endParaRPr>
          </a:p>
        </p:txBody>
      </p:sp>
      <p:graphicFrame>
        <p:nvGraphicFramePr>
          <p:cNvPr id="341" name="Google Shape;341;p45"/>
          <p:cNvGraphicFramePr/>
          <p:nvPr/>
        </p:nvGraphicFramePr>
        <p:xfrm>
          <a:off x="182700" y="1312175"/>
          <a:ext cx="3000000" cy="3000000"/>
        </p:xfrm>
        <a:graphic>
          <a:graphicData uri="http://schemas.openxmlformats.org/drawingml/2006/table">
            <a:tbl>
              <a:tblPr>
                <a:noFill/>
                <a:tableStyleId>{9EAB60A1-F282-4133-BFD4-AC10505FC9C3}</a:tableStyleId>
              </a:tblPr>
              <a:tblGrid>
                <a:gridCol w="592175"/>
                <a:gridCol w="1492275"/>
                <a:gridCol w="1184350"/>
                <a:gridCol w="947450"/>
                <a:gridCol w="840875"/>
                <a:gridCol w="592175"/>
              </a:tblGrid>
              <a:tr h="292050">
                <a:tc>
                  <a:txBody>
                    <a:bodyPr/>
                    <a:lstStyle/>
                    <a:p>
                      <a:pPr indent="0" lvl="0" marL="0" rtl="0" algn="ctr">
                        <a:lnSpc>
                          <a:spcPct val="115000"/>
                        </a:lnSpc>
                        <a:spcBef>
                          <a:spcPts val="0"/>
                        </a:spcBef>
                        <a:spcAft>
                          <a:spcPts val="0"/>
                        </a:spcAft>
                        <a:buNone/>
                      </a:pPr>
                      <a:r>
                        <a:rPr b="1" lang="en" sz="1000">
                          <a:latin typeface="Lato"/>
                          <a:ea typeface="Lato"/>
                          <a:cs typeface="Lato"/>
                          <a:sym typeface="Lato"/>
                        </a:rPr>
                        <a:t>Family</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Model</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Best CV Score</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Test RMSE</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Test MAE</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Test R²</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1155CC"/>
                          </a:solidFill>
                          <a:latin typeface="Lato"/>
                          <a:ea typeface="Lato"/>
                          <a:cs typeface="Lato"/>
                          <a:sym typeface="Lato"/>
                        </a:rPr>
                        <a:t>Linear</a:t>
                      </a:r>
                      <a:endParaRPr sz="1000">
                        <a:solidFill>
                          <a:srgbClr val="1155CC"/>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1" lang="en" sz="1000">
                          <a:latin typeface="Lato"/>
                          <a:ea typeface="Lato"/>
                          <a:cs typeface="Lato"/>
                          <a:sym typeface="Lato"/>
                        </a:rPr>
                        <a:t>Linear Regression</a:t>
                      </a:r>
                      <a:endParaRPr b="1" i="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-3.4104</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Lato"/>
                          <a:ea typeface="Lato"/>
                          <a:cs typeface="Lato"/>
                          <a:sym typeface="Lato"/>
                        </a:rPr>
                        <a:t>3.3696</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Lato"/>
                          <a:ea typeface="Lato"/>
                          <a:cs typeface="Lato"/>
                          <a:sym typeface="Lato"/>
                        </a:rPr>
                        <a:t>2.7073</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Lato"/>
                          <a:ea typeface="Lato"/>
                          <a:cs typeface="Lato"/>
                          <a:sym typeface="Lato"/>
                        </a:rPr>
                        <a:t>0.4493</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1155CC"/>
                          </a:solidFill>
                          <a:latin typeface="Lato"/>
                          <a:ea typeface="Lato"/>
                          <a:cs typeface="Lato"/>
                          <a:sym typeface="Lato"/>
                        </a:rPr>
                        <a:t>Linear</a:t>
                      </a:r>
                      <a:endParaRPr sz="1000">
                        <a:solidFill>
                          <a:srgbClr val="1155CC"/>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Ridge</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-3.4104</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3.3696</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2.7073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0.4493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1155CC"/>
                          </a:solidFill>
                          <a:latin typeface="Lato"/>
                          <a:ea typeface="Lato"/>
                          <a:cs typeface="Lato"/>
                          <a:sym typeface="Lato"/>
                        </a:rPr>
                        <a:t>Linear</a:t>
                      </a:r>
                      <a:endParaRPr sz="1000">
                        <a:solidFill>
                          <a:srgbClr val="1155CC"/>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ElasticNet</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-3.4103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3.3701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2.7085</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0.4491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1155CC"/>
                          </a:solidFill>
                          <a:latin typeface="Lato"/>
                          <a:ea typeface="Lato"/>
                          <a:cs typeface="Lato"/>
                          <a:sym typeface="Lato"/>
                        </a:rPr>
                        <a:t>Linear</a:t>
                      </a:r>
                      <a:endParaRPr sz="1000">
                        <a:solidFill>
                          <a:srgbClr val="1155CC"/>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Lasso</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Lato"/>
                          <a:ea typeface="Lato"/>
                          <a:cs typeface="Lato"/>
                          <a:sym typeface="Lato"/>
                        </a:rPr>
                        <a:t>-3.4102</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3.3702</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2.7085</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0.4491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6AA84F"/>
                          </a:solidFill>
                          <a:latin typeface="Lato"/>
                          <a:ea typeface="Lato"/>
                          <a:cs typeface="Lato"/>
                          <a:sym typeface="Lato"/>
                        </a:rPr>
                        <a:t>Tree</a:t>
                      </a:r>
                      <a:endParaRPr sz="1000">
                        <a:solidFill>
                          <a:srgbClr val="6AA84F"/>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Gradient Boosting</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-3.4227</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3.3758</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2.7203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0.4473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6AA84F"/>
                          </a:solidFill>
                          <a:latin typeface="Lato"/>
                          <a:ea typeface="Lato"/>
                          <a:cs typeface="Lato"/>
                          <a:sym typeface="Lato"/>
                        </a:rPr>
                        <a:t>Tree</a:t>
                      </a:r>
                      <a:endParaRPr sz="1000">
                        <a:solidFill>
                          <a:srgbClr val="6AA84F"/>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XGBoost</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-3.4264</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3.3760</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2.7185</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0.4472</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1155CC"/>
                          </a:solidFill>
                          <a:latin typeface="Lato"/>
                          <a:ea typeface="Lato"/>
                          <a:cs typeface="Lato"/>
                          <a:sym typeface="Lato"/>
                        </a:rPr>
                        <a:t>Linear</a:t>
                      </a:r>
                      <a:endParaRPr sz="1000">
                        <a:solidFill>
                          <a:srgbClr val="1155CC"/>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PolyRidge (deg2)</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-5.6823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3.3766</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2.7191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0.4470</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6AA84F"/>
                          </a:solidFill>
                          <a:latin typeface="Lato"/>
                          <a:ea typeface="Lato"/>
                          <a:cs typeface="Lato"/>
                          <a:sym typeface="Lato"/>
                        </a:rPr>
                        <a:t>Tree</a:t>
                      </a:r>
                      <a:endParaRPr sz="1000">
                        <a:solidFill>
                          <a:srgbClr val="6AA84F"/>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Random Forest</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-3.4467</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3.3972</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2.7396</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0.4403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8175">
                <a:tc>
                  <a:txBody>
                    <a:bodyPr/>
                    <a:lstStyle/>
                    <a:p>
                      <a:pPr indent="0" lvl="0" marL="0" rtl="0" algn="l">
                        <a:spcBef>
                          <a:spcPts val="0"/>
                        </a:spcBef>
                        <a:spcAft>
                          <a:spcPts val="0"/>
                        </a:spcAft>
                        <a:buNone/>
                      </a:pPr>
                      <a:r>
                        <a:rPr lang="en" sz="1000">
                          <a:solidFill>
                            <a:srgbClr val="E06666"/>
                          </a:solidFill>
                          <a:latin typeface="Lato"/>
                          <a:ea typeface="Lato"/>
                          <a:cs typeface="Lato"/>
                          <a:sym typeface="Lato"/>
                        </a:rPr>
                        <a:t>Kernel</a:t>
                      </a:r>
                      <a:endParaRPr sz="1000">
                        <a:solidFill>
                          <a:srgbClr val="E06666"/>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SVR (RBF)</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-3.4489</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3.4006</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2.7248</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Lato"/>
                          <a:ea typeface="Lato"/>
                          <a:cs typeface="Lato"/>
                          <a:sym typeface="Lato"/>
                        </a:rPr>
                        <a:t>0.4391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42" name="Google Shape;342;p45"/>
          <p:cNvSpPr txBox="1"/>
          <p:nvPr/>
        </p:nvSpPr>
        <p:spPr>
          <a:xfrm>
            <a:off x="5920200" y="1442450"/>
            <a:ext cx="3223800" cy="3371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Predicting</a:t>
            </a:r>
            <a:r>
              <a:rPr lang="en">
                <a:solidFill>
                  <a:srgbClr val="1A5276"/>
                </a:solidFill>
                <a:latin typeface="Roboto Mono"/>
                <a:ea typeface="Roboto Mono"/>
                <a:cs typeface="Roboto Mono"/>
                <a:sym typeface="Roboto Mono"/>
              </a:rPr>
              <a:t> </a:t>
            </a:r>
            <a:r>
              <a:rPr lang="en" sz="1200">
                <a:solidFill>
                  <a:srgbClr val="1A5276"/>
                </a:solidFill>
                <a:latin typeface="Roboto Mono"/>
                <a:ea typeface="Roboto Mono"/>
                <a:cs typeface="Roboto Mono"/>
                <a:sym typeface="Roboto Mono"/>
              </a:rPr>
              <a:t>delivery_time_deviation</a:t>
            </a:r>
            <a:r>
              <a:rPr lang="en">
                <a:solidFill>
                  <a:srgbClr val="1A5276"/>
                </a:solidFill>
                <a:latin typeface="Roboto Mono"/>
                <a:ea typeface="Roboto Mono"/>
                <a:cs typeface="Roboto Mono"/>
                <a:sym typeface="Roboto Mono"/>
              </a:rPr>
              <a:t>,</a:t>
            </a:r>
            <a:r>
              <a:rPr lang="en" sz="1200">
                <a:latin typeface="Lato"/>
                <a:ea typeface="Lato"/>
                <a:cs typeface="Lato"/>
                <a:sym typeface="Lato"/>
              </a:rPr>
              <a:t> </a:t>
            </a:r>
            <a:r>
              <a:rPr lang="en" sz="1200">
                <a:latin typeface="Lato"/>
                <a:ea typeface="Lato"/>
                <a:cs typeface="Lato"/>
                <a:sym typeface="Lato"/>
              </a:rPr>
              <a:t>continuous</a:t>
            </a:r>
            <a:r>
              <a:rPr lang="en" sz="1200">
                <a:latin typeface="Lato"/>
                <a:ea typeface="Lato"/>
                <a:cs typeface="Lato"/>
                <a:sym typeface="Lato"/>
              </a:rPr>
              <a:t> hours a shipment deviates from its scheduled delivery time</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Supervised learning</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Tested linear, tree, and kernel models on 5-fold CV using gridsearch</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RMSE as primary metric</a:t>
            </a:r>
            <a:endParaRPr sz="1200">
              <a:latin typeface="Lato"/>
              <a:ea typeface="Lato"/>
              <a:cs typeface="Lato"/>
              <a:sym typeface="Lato"/>
            </a:endParaRPr>
          </a:p>
          <a:p>
            <a:pPr indent="-304800" lvl="1" marL="914400" rtl="0" algn="l">
              <a:lnSpc>
                <a:spcPct val="115000"/>
              </a:lnSpc>
              <a:spcBef>
                <a:spcPts val="0"/>
              </a:spcBef>
              <a:spcAft>
                <a:spcPts val="0"/>
              </a:spcAft>
              <a:buSzPts val="1200"/>
              <a:buFont typeface="Lato"/>
              <a:buChar char="○"/>
            </a:pPr>
            <a:r>
              <a:rPr lang="en" sz="1200">
                <a:latin typeface="Lato"/>
                <a:ea typeface="Lato"/>
                <a:cs typeface="Lato"/>
                <a:sym typeface="Lato"/>
              </a:rPr>
              <a:t>Same unit interpretability</a:t>
            </a:r>
            <a:endParaRPr sz="1200">
              <a:latin typeface="Lato"/>
              <a:ea typeface="Lato"/>
              <a:cs typeface="Lato"/>
              <a:sym typeface="Lato"/>
            </a:endParaRPr>
          </a:p>
          <a:p>
            <a:pPr indent="-304800" lvl="1" marL="914400" rtl="0" algn="l">
              <a:lnSpc>
                <a:spcPct val="115000"/>
              </a:lnSpc>
              <a:spcBef>
                <a:spcPts val="0"/>
              </a:spcBef>
              <a:spcAft>
                <a:spcPts val="0"/>
              </a:spcAft>
              <a:buSzPts val="1200"/>
              <a:buFont typeface="Lato"/>
              <a:buChar char="○"/>
            </a:pPr>
            <a:r>
              <a:rPr lang="en" sz="1200">
                <a:latin typeface="Lato"/>
                <a:ea typeface="Lato"/>
                <a:cs typeface="Lato"/>
                <a:sym typeface="Lato"/>
              </a:rPr>
              <a:t>Penalizes large errors </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Very similar test metrics</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Linear Regression was selected </a:t>
            </a:r>
            <a:endParaRPr sz="1200">
              <a:latin typeface="Lato"/>
              <a:ea typeface="Lato"/>
              <a:cs typeface="Lato"/>
              <a:sym typeface="Lato"/>
            </a:endParaRPr>
          </a:p>
          <a:p>
            <a:pPr indent="-304800" lvl="1" marL="914400" rtl="0" algn="l">
              <a:lnSpc>
                <a:spcPct val="115000"/>
              </a:lnSpc>
              <a:spcBef>
                <a:spcPts val="0"/>
              </a:spcBef>
              <a:spcAft>
                <a:spcPts val="0"/>
              </a:spcAft>
              <a:buSzPts val="1200"/>
              <a:buFont typeface="Lato"/>
              <a:buChar char="○"/>
            </a:pPr>
            <a:r>
              <a:rPr lang="en" sz="1200">
                <a:latin typeface="Lato"/>
                <a:ea typeface="Lato"/>
                <a:cs typeface="Lato"/>
                <a:sym typeface="Lato"/>
              </a:rPr>
              <a:t>Best RMSE, MAE, </a:t>
            </a:r>
            <a:r>
              <a:rPr lang="en" sz="1200">
                <a:latin typeface="Lato"/>
                <a:ea typeface="Lato"/>
                <a:cs typeface="Lato"/>
                <a:sym typeface="Lato"/>
              </a:rPr>
              <a:t>R²</a:t>
            </a:r>
            <a:endParaRPr sz="1200">
              <a:latin typeface="Lato"/>
              <a:ea typeface="Lato"/>
              <a:cs typeface="Lato"/>
              <a:sym typeface="Lato"/>
            </a:endParaRPr>
          </a:p>
          <a:p>
            <a:pPr indent="-304800" lvl="1" marL="914400" rtl="0" algn="l">
              <a:lnSpc>
                <a:spcPct val="115000"/>
              </a:lnSpc>
              <a:spcBef>
                <a:spcPts val="0"/>
              </a:spcBef>
              <a:spcAft>
                <a:spcPts val="0"/>
              </a:spcAft>
              <a:buSzPts val="1200"/>
              <a:buFont typeface="Lato"/>
              <a:buChar char="○"/>
            </a:pPr>
            <a:r>
              <a:rPr lang="en" sz="1200">
                <a:latin typeface="Lato"/>
                <a:ea typeface="Lato"/>
                <a:cs typeface="Lato"/>
                <a:sym typeface="Lato"/>
              </a:rPr>
              <a:t>Interpretable</a:t>
            </a:r>
            <a:endParaRPr sz="1200">
              <a:latin typeface="Lato"/>
              <a:ea typeface="Lato"/>
              <a:cs typeface="Lato"/>
              <a:sym typeface="Lato"/>
            </a:endParaRPr>
          </a:p>
        </p:txBody>
      </p:sp>
      <p:sp>
        <p:nvSpPr>
          <p:cNvPr id="343" name="Google Shape;343;p4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6"/>
          <p:cNvSpPr/>
          <p:nvPr/>
        </p:nvSpPr>
        <p:spPr>
          <a:xfrm>
            <a:off x="0" y="457200"/>
            <a:ext cx="652500" cy="387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9" name="Google Shape;349;p46"/>
          <p:cNvSpPr txBox="1"/>
          <p:nvPr>
            <p:ph type="title"/>
          </p:nvPr>
        </p:nvSpPr>
        <p:spPr>
          <a:xfrm>
            <a:off x="837250" y="457200"/>
            <a:ext cx="77808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"Data Why": Key Features Driving the Model</a:t>
            </a:r>
            <a:endParaRPr/>
          </a:p>
        </p:txBody>
      </p:sp>
      <p:sp>
        <p:nvSpPr>
          <p:cNvPr id="350" name="Google Shape;350;p46"/>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a:t>
            </a:r>
            <a:endParaRPr/>
          </a:p>
        </p:txBody>
      </p:sp>
      <p:graphicFrame>
        <p:nvGraphicFramePr>
          <p:cNvPr id="351" name="Google Shape;351;p46"/>
          <p:cNvGraphicFramePr/>
          <p:nvPr/>
        </p:nvGraphicFramePr>
        <p:xfrm>
          <a:off x="4926450" y="1283075"/>
          <a:ext cx="3000000" cy="3000000"/>
        </p:xfrm>
        <a:graphic>
          <a:graphicData uri="http://schemas.openxmlformats.org/drawingml/2006/table">
            <a:tbl>
              <a:tblPr>
                <a:noFill/>
                <a:tableStyleId>{9EAB60A1-F282-4133-BFD4-AC10505FC9C3}</a:tableStyleId>
              </a:tblPr>
              <a:tblGrid>
                <a:gridCol w="2002375"/>
                <a:gridCol w="1063850"/>
              </a:tblGrid>
              <a:tr h="356075">
                <a:tc>
                  <a:txBody>
                    <a:bodyPr/>
                    <a:lstStyle/>
                    <a:p>
                      <a:pPr indent="0" lvl="0" marL="0" rtl="0" algn="ctr">
                        <a:lnSpc>
                          <a:spcPct val="115000"/>
                        </a:lnSpc>
                        <a:spcBef>
                          <a:spcPts val="0"/>
                        </a:spcBef>
                        <a:spcAft>
                          <a:spcPts val="0"/>
                        </a:spcAft>
                        <a:buNone/>
                      </a:pPr>
                      <a:r>
                        <a:rPr b="1" lang="en" sz="1000">
                          <a:latin typeface="Lato"/>
                          <a:ea typeface="Lato"/>
                          <a:cs typeface="Lato"/>
                          <a:sym typeface="Lato"/>
                        </a:rPr>
                        <a:t>Variable</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Lato"/>
                          <a:ea typeface="Lato"/>
                          <a:cs typeface="Lato"/>
                          <a:sym typeface="Lato"/>
                        </a:rPr>
                        <a:t>LR </a:t>
                      </a:r>
                      <a:r>
                        <a:rPr b="1" lang="en" sz="1000">
                          <a:latin typeface="Lato"/>
                          <a:ea typeface="Lato"/>
                          <a:cs typeface="Lato"/>
                          <a:sym typeface="Lato"/>
                        </a:rPr>
                        <a:t>Coefficient</a:t>
                      </a:r>
                      <a:endParaRPr b="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5000">
                <a:tc>
                  <a:txBody>
                    <a:bodyPr/>
                    <a:lstStyle/>
                    <a:p>
                      <a:pPr indent="0" lvl="0" marL="0" rtl="0" algn="ctr">
                        <a:spcBef>
                          <a:spcPts val="0"/>
                        </a:spcBef>
                        <a:spcAft>
                          <a:spcPts val="0"/>
                        </a:spcAft>
                        <a:buNone/>
                      </a:pPr>
                      <a:r>
                        <a:rPr lang="en" sz="1000">
                          <a:latin typeface="Lato"/>
                          <a:ea typeface="Lato"/>
                          <a:cs typeface="Lato"/>
                          <a:sym typeface="Lato"/>
                        </a:rPr>
                        <a:t>traffic_congestion_level</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1.3718</a:t>
                      </a:r>
                      <a:endParaRPr i="1"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900">
                <a:tc>
                  <a:txBody>
                    <a:bodyPr/>
                    <a:lstStyle/>
                    <a:p>
                      <a:pPr indent="0" lvl="0" marL="0" rtl="0" algn="ctr">
                        <a:spcBef>
                          <a:spcPts val="0"/>
                        </a:spcBef>
                        <a:spcAft>
                          <a:spcPts val="0"/>
                        </a:spcAft>
                        <a:buNone/>
                      </a:pPr>
                      <a:r>
                        <a:rPr lang="en" sz="1000">
                          <a:latin typeface="Lato"/>
                          <a:ea typeface="Lato"/>
                          <a:cs typeface="Lato"/>
                          <a:sym typeface="Lato"/>
                        </a:rPr>
                        <a:t>driver_behavior_score</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-1.1763</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200">
                <a:tc>
                  <a:txBody>
                    <a:bodyPr/>
                    <a:lstStyle/>
                    <a:p>
                      <a:pPr indent="0" lvl="0" marL="0" rtl="0" algn="ctr">
                        <a:spcBef>
                          <a:spcPts val="0"/>
                        </a:spcBef>
                        <a:spcAft>
                          <a:spcPts val="0"/>
                        </a:spcAft>
                        <a:buNone/>
                      </a:pPr>
                      <a:r>
                        <a:rPr lang="en" sz="1000">
                          <a:latin typeface="Lato"/>
                          <a:ea typeface="Lato"/>
                          <a:cs typeface="Lato"/>
                          <a:sym typeface="Lato"/>
                        </a:rPr>
                        <a:t>weather_condition_severity</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1.1430</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200">
                <a:tc>
                  <a:txBody>
                    <a:bodyPr/>
                    <a:lstStyle/>
                    <a:p>
                      <a:pPr indent="0" lvl="0" marL="0" rtl="0" algn="ctr">
                        <a:spcBef>
                          <a:spcPts val="0"/>
                        </a:spcBef>
                        <a:spcAft>
                          <a:spcPts val="0"/>
                        </a:spcAft>
                        <a:buNone/>
                      </a:pPr>
                      <a:r>
                        <a:rPr lang="en" sz="1000">
                          <a:latin typeface="Lato"/>
                          <a:ea typeface="Lato"/>
                          <a:cs typeface="Lato"/>
                          <a:sym typeface="Lato"/>
                        </a:rPr>
                        <a:t>route_risk_level</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0.7780</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4625">
                <a:tc>
                  <a:txBody>
                    <a:bodyPr/>
                    <a:lstStyle/>
                    <a:p>
                      <a:pPr indent="0" lvl="0" marL="0" rtl="0" algn="ctr">
                        <a:spcBef>
                          <a:spcPts val="0"/>
                        </a:spcBef>
                        <a:spcAft>
                          <a:spcPts val="0"/>
                        </a:spcAft>
                        <a:buNone/>
                      </a:pPr>
                      <a:r>
                        <a:rPr lang="en" sz="1000">
                          <a:latin typeface="Lato"/>
                          <a:ea typeface="Lato"/>
                          <a:cs typeface="Lato"/>
                          <a:sym typeface="Lato"/>
                        </a:rPr>
                        <a:t>handling_equipment_availability</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-0.6470</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200">
                <a:tc>
                  <a:txBody>
                    <a:bodyPr/>
                    <a:lstStyle/>
                    <a:p>
                      <a:pPr indent="0" lvl="0" marL="0" rtl="0" algn="ctr">
                        <a:spcBef>
                          <a:spcPts val="0"/>
                        </a:spcBef>
                        <a:spcAft>
                          <a:spcPts val="0"/>
                        </a:spcAft>
                        <a:buNone/>
                      </a:pPr>
                      <a:r>
                        <a:rPr lang="en" sz="1000">
                          <a:latin typeface="Lato"/>
                          <a:ea typeface="Lato"/>
                          <a:cs typeface="Lato"/>
                          <a:sym typeface="Lato"/>
                        </a:rPr>
                        <a:t>port_congestion_level</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0.4454</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600">
                <a:tc>
                  <a:txBody>
                    <a:bodyPr/>
                    <a:lstStyle/>
                    <a:p>
                      <a:pPr indent="0" lvl="0" marL="0" rtl="0" algn="ctr">
                        <a:spcBef>
                          <a:spcPts val="0"/>
                        </a:spcBef>
                        <a:spcAft>
                          <a:spcPts val="0"/>
                        </a:spcAft>
                        <a:buNone/>
                      </a:pPr>
                      <a:r>
                        <a:rPr lang="en" sz="1000">
                          <a:latin typeface="Lato"/>
                          <a:ea typeface="Lato"/>
                          <a:cs typeface="Lato"/>
                          <a:sym typeface="Lato"/>
                        </a:rPr>
                        <a:t>supplier_reliability_score</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-0.3431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0600">
                <a:tc>
                  <a:txBody>
                    <a:bodyPr/>
                    <a:lstStyle/>
                    <a:p>
                      <a:pPr indent="0" lvl="0" marL="0" rtl="0" algn="ctr">
                        <a:spcBef>
                          <a:spcPts val="0"/>
                        </a:spcBef>
                        <a:spcAft>
                          <a:spcPts val="0"/>
                        </a:spcAft>
                        <a:buNone/>
                      </a:pPr>
                      <a:r>
                        <a:rPr lang="en" sz="1000">
                          <a:latin typeface="Lato"/>
                          <a:ea typeface="Lato"/>
                          <a:cs typeface="Lato"/>
                          <a:sym typeface="Lato"/>
                        </a:rPr>
                        <a:t>lead_time_days</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0.3354</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200">
                <a:tc>
                  <a:txBody>
                    <a:bodyPr/>
                    <a:lstStyle/>
                    <a:p>
                      <a:pPr indent="0" lvl="0" marL="0" rtl="0" algn="ctr">
                        <a:spcBef>
                          <a:spcPts val="0"/>
                        </a:spcBef>
                        <a:spcAft>
                          <a:spcPts val="0"/>
                        </a:spcAft>
                        <a:buNone/>
                      </a:pPr>
                      <a:r>
                        <a:rPr lang="en" sz="1000">
                          <a:latin typeface="Lato"/>
                          <a:ea typeface="Lato"/>
                          <a:cs typeface="Lato"/>
                          <a:sym typeface="Lato"/>
                        </a:rPr>
                        <a:t>loading_unloading_time</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0.2781</a:t>
                      </a:r>
                      <a:endParaRPr sz="1000">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2" name="Google Shape;352;p46"/>
          <p:cNvSpPr txBox="1"/>
          <p:nvPr/>
        </p:nvSpPr>
        <p:spPr>
          <a:xfrm>
            <a:off x="763725" y="1671900"/>
            <a:ext cx="3444300" cy="2674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There is a large drop in coefficient magnitude from 0.2781 to 0.0538, so we will focus on the top 9 variables above this cutoff to understand key drivers</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A 1 standard deviation increase in the variable increases delivery time by coefficient hours, holding everything else constant</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The largest coefficients in the model are traffic congestion (1.37), driver behavior (−1.18), weather severity (1.14), and route risk (0.78) which all  relate to the driving environment</a:t>
            </a:r>
            <a:endParaRPr sz="120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8" name="Google Shape;358;p47"/>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Financial Impact</a:t>
            </a:r>
            <a:endParaRPr sz="2800">
              <a:solidFill>
                <a:srgbClr val="1C2026"/>
              </a:solidFill>
              <a:latin typeface="Playfair Display"/>
              <a:ea typeface="Playfair Display"/>
              <a:cs typeface="Playfair Display"/>
              <a:sym typeface="Playfair Display"/>
            </a:endParaRPr>
          </a:p>
        </p:txBody>
      </p:sp>
      <p:sp>
        <p:nvSpPr>
          <p:cNvPr id="359" name="Google Shape;359;p47"/>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07</a:t>
            </a:r>
            <a:endParaRPr>
              <a:solidFill>
                <a:srgbClr val="1C2026"/>
              </a:solidFill>
              <a:latin typeface="Playfair Display"/>
              <a:ea typeface="Playfair Display"/>
              <a:cs typeface="Playfair Display"/>
              <a:sym typeface="Playfair Display"/>
            </a:endParaRPr>
          </a:p>
        </p:txBody>
      </p:sp>
      <p:sp>
        <p:nvSpPr>
          <p:cNvPr id="360" name="Google Shape;360;p47"/>
          <p:cNvSpPr txBox="1"/>
          <p:nvPr/>
        </p:nvSpPr>
        <p:spPr>
          <a:xfrm>
            <a:off x="652500" y="1146500"/>
            <a:ext cx="2377500" cy="863700"/>
          </a:xfrm>
          <a:prstGeom prst="rect">
            <a:avLst/>
          </a:prstGeom>
          <a:solidFill>
            <a:schemeClr val="accen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900">
                <a:solidFill>
                  <a:schemeClr val="lt1"/>
                </a:solidFill>
                <a:latin typeface="Lato"/>
                <a:ea typeface="Lato"/>
                <a:cs typeface="Lato"/>
                <a:sym typeface="Lato"/>
              </a:rPr>
              <a:t>Annual Penalty Exposure</a:t>
            </a:r>
            <a:endParaRPr sz="9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b="1" lang="en" sz="1800">
                <a:solidFill>
                  <a:schemeClr val="lt1"/>
                </a:solidFill>
                <a:latin typeface="Lato"/>
                <a:ea typeface="Lato"/>
                <a:cs typeface="Lato"/>
                <a:sym typeface="Lato"/>
              </a:rPr>
              <a:t>$97.1M</a:t>
            </a:r>
            <a:endParaRPr b="1" sz="18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lang="en" sz="700">
                <a:solidFill>
                  <a:schemeClr val="lt1"/>
                </a:solidFill>
                <a:latin typeface="Lato"/>
                <a:ea typeface="Lato"/>
                <a:cs typeface="Lato"/>
                <a:sym typeface="Lato"/>
              </a:rPr>
              <a:t>8,094 late ships/yr × OTIF 80%</a:t>
            </a:r>
            <a:endParaRPr sz="700">
              <a:solidFill>
                <a:schemeClr val="lt1"/>
              </a:solidFill>
              <a:latin typeface="Lato"/>
              <a:ea typeface="Lato"/>
              <a:cs typeface="Lato"/>
              <a:sym typeface="Lato"/>
            </a:endParaRPr>
          </a:p>
          <a:p>
            <a:pPr indent="0" lvl="0" marL="0" rtl="0" algn="ctr">
              <a:lnSpc>
                <a:spcPct val="100000"/>
              </a:lnSpc>
              <a:spcBef>
                <a:spcPts val="0"/>
              </a:spcBef>
              <a:spcAft>
                <a:spcPts val="0"/>
              </a:spcAft>
              <a:buNone/>
            </a:pPr>
            <a:r>
              <a:rPr lang="en" sz="700">
                <a:solidFill>
                  <a:schemeClr val="lt1"/>
                </a:solidFill>
                <a:latin typeface="Lato"/>
                <a:ea typeface="Lato"/>
                <a:cs typeface="Lato"/>
                <a:sym typeface="Lato"/>
              </a:rPr>
              <a:t>= 6,475 at-risk × $15K</a:t>
            </a:r>
            <a:endParaRPr sz="700">
              <a:solidFill>
                <a:schemeClr val="lt1"/>
              </a:solidFill>
              <a:latin typeface="Lato"/>
              <a:ea typeface="Lato"/>
              <a:cs typeface="Lato"/>
              <a:sym typeface="Lato"/>
            </a:endParaRPr>
          </a:p>
        </p:txBody>
      </p:sp>
      <p:sp>
        <p:nvSpPr>
          <p:cNvPr id="361" name="Google Shape;361;p47"/>
          <p:cNvSpPr txBox="1"/>
          <p:nvPr/>
        </p:nvSpPr>
        <p:spPr>
          <a:xfrm>
            <a:off x="3346362" y="1146500"/>
            <a:ext cx="2377500" cy="863700"/>
          </a:xfrm>
          <a:prstGeom prst="rect">
            <a:avLst/>
          </a:prstGeom>
          <a:solidFill>
            <a:srgbClr val="FCE5CD"/>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900">
                <a:solidFill>
                  <a:schemeClr val="lt1"/>
                </a:solidFill>
                <a:latin typeface="Lato"/>
                <a:ea typeface="Lato"/>
                <a:cs typeface="Lato"/>
                <a:sym typeface="Lato"/>
              </a:rPr>
              <a:t>Sweet Spot</a:t>
            </a:r>
            <a:br>
              <a:rPr lang="en" sz="900">
                <a:solidFill>
                  <a:schemeClr val="lt1"/>
                </a:solidFill>
                <a:latin typeface="Lato"/>
                <a:ea typeface="Lato"/>
                <a:cs typeface="Lato"/>
                <a:sym typeface="Lato"/>
              </a:rPr>
            </a:br>
            <a:r>
              <a:rPr lang="en" sz="900">
                <a:solidFill>
                  <a:schemeClr val="lt1"/>
                </a:solidFill>
                <a:latin typeface="Lato"/>
                <a:ea typeface="Lato"/>
                <a:cs typeface="Lato"/>
                <a:sym typeface="Lato"/>
              </a:rPr>
              <a:t>(Intervention Target)</a:t>
            </a:r>
            <a:endParaRPr sz="9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b="1" lang="en" sz="1800">
                <a:solidFill>
                  <a:schemeClr val="lt1"/>
                </a:solidFill>
                <a:latin typeface="Lato"/>
                <a:ea typeface="Lato"/>
                <a:cs typeface="Lato"/>
                <a:sym typeface="Lato"/>
              </a:rPr>
              <a:t>2,750/yr</a:t>
            </a:r>
            <a:endParaRPr b="1" sz="18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lang="en" sz="700">
                <a:solidFill>
                  <a:schemeClr val="lt1"/>
                </a:solidFill>
                <a:latin typeface="Lato"/>
                <a:ea typeface="Lato"/>
                <a:cs typeface="Lato"/>
                <a:sym typeface="Lato"/>
              </a:rPr>
              <a:t>deviation 0.5h - 6.0h</a:t>
            </a:r>
            <a:br>
              <a:rPr lang="en" sz="700">
                <a:solidFill>
                  <a:schemeClr val="lt1"/>
                </a:solidFill>
                <a:latin typeface="Lato"/>
                <a:ea typeface="Lato"/>
                <a:cs typeface="Lato"/>
                <a:sym typeface="Lato"/>
              </a:rPr>
            </a:br>
            <a:r>
              <a:rPr lang="en" sz="700">
                <a:solidFill>
                  <a:schemeClr val="lt1"/>
                </a:solidFill>
                <a:latin typeface="Lato"/>
                <a:ea typeface="Lato"/>
                <a:cs typeface="Lato"/>
                <a:sym typeface="Lato"/>
              </a:rPr>
              <a:t>31.5% of shipments</a:t>
            </a:r>
            <a:endParaRPr sz="700">
              <a:solidFill>
                <a:schemeClr val="lt1"/>
              </a:solidFill>
              <a:latin typeface="Lato"/>
              <a:ea typeface="Lato"/>
              <a:cs typeface="Lato"/>
              <a:sym typeface="Lato"/>
            </a:endParaRPr>
          </a:p>
        </p:txBody>
      </p:sp>
      <p:sp>
        <p:nvSpPr>
          <p:cNvPr id="362" name="Google Shape;362;p47"/>
          <p:cNvSpPr txBox="1"/>
          <p:nvPr/>
        </p:nvSpPr>
        <p:spPr>
          <a:xfrm>
            <a:off x="6040225" y="1146500"/>
            <a:ext cx="2377500" cy="863700"/>
          </a:xfrm>
          <a:prstGeom prst="rect">
            <a:avLst/>
          </a:prstGeom>
          <a:solidFill>
            <a:schemeClr val="accen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900">
                <a:solidFill>
                  <a:schemeClr val="lt1"/>
                </a:solidFill>
                <a:latin typeface="Lato"/>
                <a:ea typeface="Lato"/>
                <a:cs typeface="Lato"/>
                <a:sym typeface="Lato"/>
              </a:rPr>
              <a:t>Base Case Net Savings</a:t>
            </a:r>
            <a:endParaRPr sz="9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b="1" lang="en" sz="1800">
                <a:solidFill>
                  <a:schemeClr val="lt1"/>
                </a:solidFill>
                <a:latin typeface="Lato"/>
                <a:ea typeface="Lato"/>
                <a:cs typeface="Lato"/>
                <a:sym typeface="Lato"/>
              </a:rPr>
              <a:t>$13.9M/yr</a:t>
            </a:r>
            <a:endParaRPr b="1" sz="1800">
              <a:solidFill>
                <a:schemeClr val="lt1"/>
              </a:solidFill>
              <a:latin typeface="Lato"/>
              <a:ea typeface="Lato"/>
              <a:cs typeface="Lato"/>
              <a:sym typeface="Lato"/>
            </a:endParaRPr>
          </a:p>
          <a:p>
            <a:pPr indent="0" lvl="0" marL="0" rtl="0" algn="ctr">
              <a:lnSpc>
                <a:spcPct val="100000"/>
              </a:lnSpc>
              <a:spcBef>
                <a:spcPts val="300"/>
              </a:spcBef>
              <a:spcAft>
                <a:spcPts val="0"/>
              </a:spcAft>
              <a:buNone/>
            </a:pPr>
            <a:r>
              <a:rPr lang="en" sz="700">
                <a:solidFill>
                  <a:schemeClr val="lt1"/>
                </a:solidFill>
                <a:latin typeface="Lato"/>
                <a:ea typeface="Lato"/>
                <a:cs typeface="Lato"/>
                <a:sym typeface="Lato"/>
              </a:rPr>
              <a:t>Gross $16.5M - costs $2.6M</a:t>
            </a:r>
            <a:br>
              <a:rPr lang="en" sz="700">
                <a:solidFill>
                  <a:schemeClr val="lt1"/>
                </a:solidFill>
                <a:latin typeface="Lato"/>
                <a:ea typeface="Lato"/>
                <a:cs typeface="Lato"/>
                <a:sym typeface="Lato"/>
              </a:rPr>
            </a:br>
            <a:r>
              <a:rPr lang="en" sz="700">
                <a:solidFill>
                  <a:schemeClr val="lt1"/>
                </a:solidFill>
                <a:latin typeface="Lato"/>
                <a:ea typeface="Lato"/>
                <a:cs typeface="Lato"/>
                <a:sym typeface="Lato"/>
              </a:rPr>
              <a:t>(OTIF 80% · success 50%)</a:t>
            </a:r>
            <a:endParaRPr sz="700">
              <a:solidFill>
                <a:schemeClr val="lt1"/>
              </a:solidFill>
              <a:latin typeface="Lato"/>
              <a:ea typeface="Lato"/>
              <a:cs typeface="Lato"/>
              <a:sym typeface="Lato"/>
            </a:endParaRPr>
          </a:p>
        </p:txBody>
      </p:sp>
      <p:sp>
        <p:nvSpPr>
          <p:cNvPr id="363" name="Google Shape;363;p47"/>
          <p:cNvSpPr txBox="1"/>
          <p:nvPr/>
        </p:nvSpPr>
        <p:spPr>
          <a:xfrm>
            <a:off x="589679" y="2107736"/>
            <a:ext cx="7765200" cy="32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 sz="900">
                <a:solidFill>
                  <a:schemeClr val="lt1"/>
                </a:solidFill>
                <a:latin typeface="Lato"/>
                <a:ea typeface="Lato"/>
                <a:cs typeface="Lato"/>
                <a:sym typeface="Lato"/>
              </a:rPr>
              <a:t>Sensitivity Analysis - varying Intervention Success Rate (LogistiCorp’s operational effort)</a:t>
            </a:r>
            <a:endParaRPr b="1" sz="700">
              <a:solidFill>
                <a:schemeClr val="lt1"/>
              </a:solidFill>
              <a:latin typeface="Lato"/>
              <a:ea typeface="Lato"/>
              <a:cs typeface="Lato"/>
              <a:sym typeface="Lato"/>
            </a:endParaRPr>
          </a:p>
        </p:txBody>
      </p:sp>
      <p:graphicFrame>
        <p:nvGraphicFramePr>
          <p:cNvPr id="364" name="Google Shape;364;p47"/>
          <p:cNvGraphicFramePr/>
          <p:nvPr/>
        </p:nvGraphicFramePr>
        <p:xfrm>
          <a:off x="660550" y="2363225"/>
          <a:ext cx="3000000" cy="3000000"/>
        </p:xfrm>
        <a:graphic>
          <a:graphicData uri="http://schemas.openxmlformats.org/drawingml/2006/table">
            <a:tbl>
              <a:tblPr>
                <a:noFill/>
                <a:tableStyleId>{25AEDA93-417F-497C-8809-40AAA259DC58}</a:tableStyleId>
              </a:tblPr>
              <a:tblGrid>
                <a:gridCol w="1294200"/>
                <a:gridCol w="1294200"/>
                <a:gridCol w="1294200"/>
                <a:gridCol w="1294200"/>
                <a:gridCol w="1294200"/>
                <a:gridCol w="1294200"/>
              </a:tblGrid>
              <a:tr h="112225">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Intervention</a:t>
                      </a:r>
                      <a:endParaRPr sz="850"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Success Rate</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Ships Saved /yr</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Gross Savings</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Total Cost</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NET Savings</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50" u="none" cap="none" strike="noStrike">
                          <a:solidFill>
                            <a:schemeClr val="lt1"/>
                          </a:solidFill>
                          <a:latin typeface="Lato"/>
                          <a:ea typeface="Lato"/>
                          <a:cs typeface="Lato"/>
                          <a:sym typeface="Lato"/>
                        </a:rPr>
                        <a:t>Note</a:t>
                      </a:r>
                      <a:endParaRPr sz="85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70750">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20%</a:t>
                      </a:r>
                      <a:endParaRPr sz="850" u="none" cap="none" strike="noStrike">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a:solidFill>
                            <a:srgbClr val="111111"/>
                          </a:solidFill>
                          <a:latin typeface="Lato"/>
                          <a:ea typeface="Lato"/>
                          <a:cs typeface="Lato"/>
                          <a:sym typeface="Lato"/>
                        </a:rPr>
                        <a:t>440</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6</a:t>
                      </a:r>
                      <a:r>
                        <a:rPr lang="en" sz="850" u="none" cap="none" strike="noStrike">
                          <a:solidFill>
                            <a:srgbClr val="111111"/>
                          </a:solidFill>
                          <a:latin typeface="Lato"/>
                          <a:ea typeface="Lato"/>
                          <a:cs typeface="Lato"/>
                          <a:sym typeface="Lato"/>
                        </a:rPr>
                        <a:t>.6M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$2.</a:t>
                      </a:r>
                      <a:r>
                        <a:rPr lang="en" sz="850">
                          <a:solidFill>
                            <a:srgbClr val="111111"/>
                          </a:solidFill>
                          <a:latin typeface="Lato"/>
                          <a:ea typeface="Lato"/>
                          <a:cs typeface="Lato"/>
                          <a:sym typeface="Lato"/>
                        </a:rPr>
                        <a:t>6</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4</a:t>
                      </a: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0</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555555"/>
                        </a:buClr>
                        <a:buSzPts val="850"/>
                        <a:buFont typeface="Calibri"/>
                        <a:buNone/>
                      </a:pPr>
                      <a:r>
                        <a:rPr lang="en" sz="850" u="none" cap="none" strike="noStrike">
                          <a:solidFill>
                            <a:srgbClr val="555555"/>
                          </a:solidFill>
                          <a:latin typeface="Lato"/>
                          <a:ea typeface="Lato"/>
                          <a:cs typeface="Lato"/>
                          <a:sym typeface="Lato"/>
                        </a:rPr>
                        <a:t>Minimal effort</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70750">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50%  ◀ Base</a:t>
                      </a:r>
                      <a:endParaRPr sz="850" u="none" cap="none" strike="noStrike">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50">
                          <a:solidFill>
                            <a:srgbClr val="111111"/>
                          </a:solidFill>
                          <a:latin typeface="Lato"/>
                          <a:ea typeface="Lato"/>
                          <a:cs typeface="Lato"/>
                          <a:sym typeface="Lato"/>
                        </a:rPr>
                        <a:t>1,100</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$1</a:t>
                      </a:r>
                      <a:r>
                        <a:rPr lang="en" sz="850">
                          <a:solidFill>
                            <a:srgbClr val="111111"/>
                          </a:solidFill>
                          <a:latin typeface="Lato"/>
                          <a:ea typeface="Lato"/>
                          <a:cs typeface="Lato"/>
                          <a:sym typeface="Lato"/>
                        </a:rPr>
                        <a:t>6</a:t>
                      </a: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5</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$2.</a:t>
                      </a:r>
                      <a:r>
                        <a:rPr lang="en" sz="850">
                          <a:solidFill>
                            <a:srgbClr val="111111"/>
                          </a:solidFill>
                          <a:latin typeface="Lato"/>
                          <a:ea typeface="Lato"/>
                          <a:cs typeface="Lato"/>
                          <a:sym typeface="Lato"/>
                        </a:rPr>
                        <a:t>6</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13</a:t>
                      </a: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9</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Assumed baseline</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70750">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100%</a:t>
                      </a:r>
                      <a:endParaRPr sz="850" u="none" cap="none" strike="noStrike">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a:solidFill>
                            <a:srgbClr val="111111"/>
                          </a:solidFill>
                          <a:latin typeface="Lato"/>
                          <a:ea typeface="Lato"/>
                          <a:cs typeface="Lato"/>
                          <a:sym typeface="Lato"/>
                        </a:rPr>
                        <a:t>2,200</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33</a:t>
                      </a:r>
                      <a:r>
                        <a:rPr lang="en" sz="850" u="none" cap="none" strike="noStrike">
                          <a:solidFill>
                            <a:srgbClr val="111111"/>
                          </a:solidFill>
                          <a:latin typeface="Lato"/>
                          <a:ea typeface="Lato"/>
                          <a:cs typeface="Lato"/>
                          <a:sym typeface="Lato"/>
                        </a:rPr>
                        <a:t>.0M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$2.</a:t>
                      </a:r>
                      <a:r>
                        <a:rPr lang="en" sz="850">
                          <a:solidFill>
                            <a:srgbClr val="111111"/>
                          </a:solidFill>
                          <a:latin typeface="Lato"/>
                          <a:ea typeface="Lato"/>
                          <a:cs typeface="Lato"/>
                          <a:sym typeface="Lato"/>
                        </a:rPr>
                        <a:t>6</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30</a:t>
                      </a:r>
                      <a:r>
                        <a:rPr lang="en" sz="850" u="none" cap="none" strike="noStrike">
                          <a:solidFill>
                            <a:srgbClr val="111111"/>
                          </a:solidFill>
                          <a:latin typeface="Lato"/>
                          <a:ea typeface="Lato"/>
                          <a:cs typeface="Lato"/>
                          <a:sym typeface="Lato"/>
                        </a:rPr>
                        <a:t>.</a:t>
                      </a:r>
                      <a:r>
                        <a:rPr lang="en" sz="850">
                          <a:solidFill>
                            <a:srgbClr val="111111"/>
                          </a:solidFill>
                          <a:latin typeface="Lato"/>
                          <a:ea typeface="Lato"/>
                          <a:cs typeface="Lato"/>
                          <a:sym typeface="Lato"/>
                        </a:rPr>
                        <a:t>4</a:t>
                      </a:r>
                      <a:r>
                        <a:rPr lang="en" sz="850" u="none" cap="none" strike="noStrike">
                          <a:solidFill>
                            <a:srgbClr val="111111"/>
                          </a:solidFill>
                          <a:latin typeface="Lato"/>
                          <a:ea typeface="Lato"/>
                          <a:cs typeface="Lato"/>
                          <a:sym typeface="Lato"/>
                        </a:rPr>
                        <a:t>M</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555555"/>
                        </a:buClr>
                        <a:buSzPts val="850"/>
                        <a:buFont typeface="Calibri"/>
                        <a:buNone/>
                      </a:pPr>
                      <a:r>
                        <a:rPr lang="en" sz="850" u="none" cap="none" strike="noStrike">
                          <a:solidFill>
                            <a:srgbClr val="555555"/>
                          </a:solidFill>
                          <a:latin typeface="Lato"/>
                          <a:ea typeface="Lato"/>
                          <a:cs typeface="Lato"/>
                          <a:sym typeface="Lato"/>
                        </a:rPr>
                        <a:t>Theoretical ceiling</a:t>
                      </a:r>
                      <a:endParaRPr sz="850" u="none" cap="none" strike="noStrike">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365" name="Google Shape;365;p47"/>
          <p:cNvSpPr txBox="1"/>
          <p:nvPr/>
        </p:nvSpPr>
        <p:spPr>
          <a:xfrm>
            <a:off x="581826" y="3368817"/>
            <a:ext cx="8605800" cy="149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AAAAAA"/>
              </a:buClr>
              <a:buSzPts val="750"/>
              <a:buFont typeface="Calibri"/>
              <a:buNone/>
            </a:pPr>
            <a:r>
              <a:rPr i="1" lang="en" sz="600">
                <a:solidFill>
                  <a:schemeClr val="lt1"/>
                </a:solidFill>
                <a:latin typeface="Lato Light"/>
                <a:ea typeface="Lato Light"/>
                <a:cs typeface="Lato Light"/>
                <a:sym typeface="Lato Light"/>
              </a:rPr>
              <a:t>Assumptions: cargo $500K/truck · penalty 3% ($15K) · OTIF contract 80% (electronics 3PL norm) · dock threshold 0.5h · max intervention 5.5h (correlation-based, not causal) · consulting $400K/yr · intervention $1K/ship attempt</a:t>
            </a:r>
            <a:endParaRPr i="1" sz="600">
              <a:solidFill>
                <a:schemeClr val="lt1"/>
              </a:solidFill>
              <a:latin typeface="Lato Light"/>
              <a:ea typeface="Lato Light"/>
              <a:cs typeface="Lato Light"/>
              <a:sym typeface="Lato Light"/>
            </a:endParaRPr>
          </a:p>
        </p:txBody>
      </p:sp>
      <p:sp>
        <p:nvSpPr>
          <p:cNvPr id="366" name="Google Shape;366;p47"/>
          <p:cNvSpPr txBox="1"/>
          <p:nvPr/>
        </p:nvSpPr>
        <p:spPr>
          <a:xfrm>
            <a:off x="607004" y="3517918"/>
            <a:ext cx="7765200" cy="32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Clr>
                <a:srgbClr val="111111"/>
              </a:buClr>
              <a:buSzPts val="850"/>
              <a:buFont typeface="Calibri"/>
              <a:buNone/>
            </a:pPr>
            <a:r>
              <a:rPr b="1" lang="en" sz="900">
                <a:solidFill>
                  <a:schemeClr val="lt1"/>
                </a:solidFill>
                <a:latin typeface="Lato"/>
                <a:ea typeface="Lato"/>
                <a:cs typeface="Lato"/>
                <a:sym typeface="Lato"/>
              </a:rPr>
              <a:t>Annual Cost Assumptions  (deducted from gross savings)</a:t>
            </a:r>
            <a:endParaRPr b="1" sz="900">
              <a:solidFill>
                <a:schemeClr val="lt1"/>
              </a:solidFill>
              <a:latin typeface="Lato"/>
              <a:ea typeface="Lato"/>
              <a:cs typeface="Lato"/>
              <a:sym typeface="Lato"/>
            </a:endParaRPr>
          </a:p>
        </p:txBody>
      </p:sp>
      <p:graphicFrame>
        <p:nvGraphicFramePr>
          <p:cNvPr id="367" name="Google Shape;367;p47"/>
          <p:cNvGraphicFramePr/>
          <p:nvPr/>
        </p:nvGraphicFramePr>
        <p:xfrm>
          <a:off x="677875" y="3773407"/>
          <a:ext cx="3000000" cy="3000000"/>
        </p:xfrm>
        <a:graphic>
          <a:graphicData uri="http://schemas.openxmlformats.org/drawingml/2006/table">
            <a:tbl>
              <a:tblPr>
                <a:noFill/>
                <a:tableStyleId>{25AEDA93-417F-497C-8809-40AAA259DC58}</a:tableStyleId>
              </a:tblPr>
              <a:tblGrid>
                <a:gridCol w="1934975"/>
                <a:gridCol w="1640500"/>
                <a:gridCol w="1640500"/>
                <a:gridCol w="2523925"/>
              </a:tblGrid>
              <a:tr h="37275">
                <a:tc>
                  <a:txBody>
                    <a:bodyPr/>
                    <a:lstStyle/>
                    <a:p>
                      <a:pPr indent="0" lvl="0" marL="0" marR="0" rtl="0" algn="ctr">
                        <a:spcBef>
                          <a:spcPts val="0"/>
                        </a:spcBef>
                        <a:spcAft>
                          <a:spcPts val="0"/>
                        </a:spcAft>
                        <a:buClr>
                          <a:srgbClr val="FFFFFF"/>
                        </a:buClr>
                        <a:buSzPts val="850"/>
                        <a:buFont typeface="Calibri"/>
                        <a:buNone/>
                      </a:pPr>
                      <a:r>
                        <a:rPr lang="en" sz="800">
                          <a:solidFill>
                            <a:schemeClr val="lt1"/>
                          </a:solidFill>
                          <a:latin typeface="Lato"/>
                          <a:ea typeface="Lato"/>
                          <a:cs typeface="Lato"/>
                          <a:sym typeface="Lato"/>
                        </a:rPr>
                        <a:t>Cost Item</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00">
                          <a:solidFill>
                            <a:schemeClr val="lt1"/>
                          </a:solidFill>
                          <a:latin typeface="Lato"/>
                          <a:ea typeface="Lato"/>
                          <a:cs typeface="Lato"/>
                          <a:sym typeface="Lato"/>
                        </a:rPr>
                        <a:t>Assumption</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00">
                          <a:solidFill>
                            <a:schemeClr val="lt1"/>
                          </a:solidFill>
                          <a:latin typeface="Lato"/>
                          <a:ea typeface="Lato"/>
                          <a:cs typeface="Lato"/>
                          <a:sym typeface="Lato"/>
                        </a:rPr>
                        <a:t>Annual Amount</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FFFFFF"/>
                        </a:buClr>
                        <a:buSzPts val="850"/>
                        <a:buFont typeface="Calibri"/>
                        <a:buNone/>
                      </a:pPr>
                      <a:r>
                        <a:rPr lang="en" sz="800">
                          <a:solidFill>
                            <a:schemeClr val="lt1"/>
                          </a:solidFill>
                          <a:latin typeface="Lato"/>
                          <a:ea typeface="Lato"/>
                          <a:cs typeface="Lato"/>
                          <a:sym typeface="Lato"/>
                        </a:rPr>
                        <a:t>Basis</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37275">
                <a:tc>
                  <a:txBody>
                    <a:bodyPr/>
                    <a:lstStyle/>
                    <a:p>
                      <a:pPr indent="0" lvl="0" marL="0" rtl="0" algn="l">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Consulting &amp; model operations</a:t>
                      </a:r>
                      <a:endParaRPr sz="800">
                        <a:solidFill>
                          <a:schemeClr val="lt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Fixed Annual</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400,000</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555555"/>
                        </a:buClr>
                        <a:buSzPts val="850"/>
                        <a:buFont typeface="Calibri"/>
                        <a:buNone/>
                      </a:pPr>
                      <a:r>
                        <a:rPr lang="en" sz="800">
                          <a:solidFill>
                            <a:schemeClr val="lt1"/>
                          </a:solidFill>
                          <a:latin typeface="Lato"/>
                          <a:ea typeface="Lato"/>
                          <a:cs typeface="Lato"/>
                          <a:sym typeface="Lato"/>
                        </a:rPr>
                        <a:t>System maintenance, monitoring, analyst support</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37275">
                <a:tc>
                  <a:txBody>
                    <a:bodyPr/>
                    <a:lstStyle/>
                    <a:p>
                      <a:pPr indent="0" lvl="0" marL="0" rtl="0" algn="l">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Per-shipment intervention cost</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$1,000 / attempt</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rgbClr val="111111"/>
                        </a:buClr>
                        <a:buSzPts val="850"/>
                        <a:buFont typeface="Calibri"/>
                        <a:buNone/>
                      </a:pP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2,200,000</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Extra loading/handling on 2,200 at-risk ships</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37275">
                <a:tc>
                  <a:txBody>
                    <a:bodyPr/>
                    <a:lstStyle/>
                    <a:p>
                      <a:pPr indent="0" lvl="0" marL="0" rtl="0" algn="l">
                        <a:spcBef>
                          <a:spcPts val="0"/>
                        </a:spcBef>
                        <a:spcAft>
                          <a:spcPts val="0"/>
                        </a:spcAft>
                        <a:buClr>
                          <a:srgbClr val="111111"/>
                        </a:buClr>
                        <a:buSzPts val="850"/>
                        <a:buFont typeface="Calibri"/>
                        <a:buNone/>
                      </a:pPr>
                      <a:r>
                        <a:rPr lang="en" sz="800">
                          <a:solidFill>
                            <a:schemeClr val="lt1"/>
                          </a:solidFill>
                          <a:latin typeface="Lato"/>
                          <a:ea typeface="Lato"/>
                          <a:cs typeface="Lato"/>
                          <a:sym typeface="Lato"/>
                        </a:rPr>
                        <a:t>Total annual cost</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Clr>
                          <a:srgbClr val="111111"/>
                        </a:buClr>
                        <a:buSzPts val="850"/>
                        <a:buFont typeface="Calibri"/>
                        <a:buNone/>
                      </a:pPr>
                      <a:r>
                        <a:rPr lang="en" sz="800" u="none" cap="none" strike="noStrike">
                          <a:solidFill>
                            <a:schemeClr val="lt1"/>
                          </a:solidFill>
                          <a:latin typeface="Lato"/>
                          <a:ea typeface="Lato"/>
                          <a:cs typeface="Lato"/>
                          <a:sym typeface="Lato"/>
                        </a:rPr>
                        <a:t>$2</a:t>
                      </a:r>
                      <a:r>
                        <a:rPr lang="en" sz="800">
                          <a:solidFill>
                            <a:schemeClr val="lt1"/>
                          </a:solidFill>
                          <a:latin typeface="Lato"/>
                          <a:ea typeface="Lato"/>
                          <a:cs typeface="Lato"/>
                          <a:sym typeface="Lato"/>
                        </a:rPr>
                        <a:t>,600,000</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rgbClr val="555555"/>
                        </a:buClr>
                        <a:buSzPts val="850"/>
                        <a:buFont typeface="Calibri"/>
                        <a:buNone/>
                      </a:pPr>
                      <a:r>
                        <a:rPr lang="en" sz="800">
                          <a:solidFill>
                            <a:schemeClr val="lt1"/>
                          </a:solidFill>
                          <a:latin typeface="Lato"/>
                          <a:ea typeface="Lato"/>
                          <a:cs typeface="Lato"/>
                          <a:sym typeface="Lato"/>
                        </a:rPr>
                        <a:t>Applied regardless of intervention success rate</a:t>
                      </a:r>
                      <a:endParaRPr sz="800" u="none" cap="none" strike="noStrike">
                        <a:solidFill>
                          <a:schemeClr val="lt1"/>
                        </a:solidFill>
                        <a:latin typeface="Lato"/>
                        <a:ea typeface="Lato"/>
                        <a:cs typeface="Lato"/>
                        <a:sym typeface="Lato"/>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bl>
          </a:graphicData>
        </a:graphic>
      </p:graphicFrame>
      <p:sp>
        <p:nvSpPr>
          <p:cNvPr id="368" name="Google Shape;368;p4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descr="A close up of polygonal metal frames crisscrossing a large glass surface. " id="373" name="Google Shape;373;p48"/>
          <p:cNvPicPr preferRelativeResize="0"/>
          <p:nvPr/>
        </p:nvPicPr>
        <p:blipFill rotWithShape="1">
          <a:blip r:embed="rId3">
            <a:alphaModFix/>
          </a:blip>
          <a:srcRect b="22859" l="17212" r="0" t="13993"/>
          <a:stretch/>
        </p:blipFill>
        <p:spPr>
          <a:xfrm>
            <a:off x="6877850" y="0"/>
            <a:ext cx="2266148" cy="1152050"/>
          </a:xfrm>
          <a:prstGeom prst="rect">
            <a:avLst/>
          </a:prstGeom>
          <a:noFill/>
          <a:ln>
            <a:noFill/>
          </a:ln>
        </p:spPr>
      </p:pic>
      <p:sp>
        <p:nvSpPr>
          <p:cNvPr id="374" name="Google Shape;374;p4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5" name="Google Shape;375;p48"/>
          <p:cNvSpPr/>
          <p:nvPr/>
        </p:nvSpPr>
        <p:spPr>
          <a:xfrm>
            <a:off x="0" y="457200"/>
            <a:ext cx="652500" cy="387900"/>
          </a:xfrm>
          <a:prstGeom prst="rect">
            <a:avLst/>
          </a:prstGeom>
          <a:solidFill>
            <a:srgbClr val="E9E9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6" name="Google Shape;376;p48"/>
          <p:cNvSpPr txBox="1"/>
          <p:nvPr/>
        </p:nvSpPr>
        <p:spPr>
          <a:xfrm>
            <a:off x="837250" y="457200"/>
            <a:ext cx="6885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2800">
                <a:solidFill>
                  <a:srgbClr val="1C2026"/>
                </a:solidFill>
                <a:latin typeface="Playfair Display"/>
                <a:ea typeface="Playfair Display"/>
                <a:cs typeface="Playfair Display"/>
                <a:sym typeface="Playfair Display"/>
              </a:rPr>
              <a:t>Operational Recommendations</a:t>
            </a:r>
            <a:endParaRPr sz="2800">
              <a:solidFill>
                <a:srgbClr val="1C2026"/>
              </a:solidFill>
              <a:latin typeface="Playfair Display"/>
              <a:ea typeface="Playfair Display"/>
              <a:cs typeface="Playfair Display"/>
              <a:sym typeface="Playfair Display"/>
            </a:endParaRPr>
          </a:p>
        </p:txBody>
      </p:sp>
      <p:sp>
        <p:nvSpPr>
          <p:cNvPr id="377" name="Google Shape;377;p48"/>
          <p:cNvSpPr txBox="1"/>
          <p:nvPr/>
        </p:nvSpPr>
        <p:spPr>
          <a:xfrm>
            <a:off x="276075" y="520738"/>
            <a:ext cx="336000" cy="226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rgbClr val="1C2026"/>
                </a:solidFill>
                <a:latin typeface="Playfair Display"/>
                <a:ea typeface="Playfair Display"/>
                <a:cs typeface="Playfair Display"/>
                <a:sym typeface="Playfair Display"/>
              </a:rPr>
              <a:t>08</a:t>
            </a:r>
            <a:endParaRPr>
              <a:solidFill>
                <a:srgbClr val="1C2026"/>
              </a:solidFill>
              <a:latin typeface="Playfair Display"/>
              <a:ea typeface="Playfair Display"/>
              <a:cs typeface="Playfair Display"/>
              <a:sym typeface="Playfair Display"/>
            </a:endParaRPr>
          </a:p>
        </p:txBody>
      </p:sp>
      <p:sp>
        <p:nvSpPr>
          <p:cNvPr id="378" name="Google Shape;378;p48"/>
          <p:cNvSpPr txBox="1"/>
          <p:nvPr/>
        </p:nvSpPr>
        <p:spPr>
          <a:xfrm>
            <a:off x="228604" y="1096771"/>
            <a:ext cx="7765200" cy="338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 sz="1000">
                <a:solidFill>
                  <a:schemeClr val="lt1"/>
                </a:solidFill>
                <a:latin typeface="Lato"/>
                <a:ea typeface="Lato"/>
                <a:cs typeface="Lato"/>
                <a:sym typeface="Lato"/>
              </a:rPr>
              <a:t>Where do 8,736 annual shipments land? → Only the Sweet Spot is both saveable and worth intervening.</a:t>
            </a:r>
            <a:endParaRPr b="1" sz="1000">
              <a:solidFill>
                <a:schemeClr val="lt1"/>
              </a:solidFill>
              <a:latin typeface="Lato"/>
              <a:ea typeface="Lato"/>
              <a:cs typeface="Lato"/>
              <a:sym typeface="Lato"/>
            </a:endParaRPr>
          </a:p>
        </p:txBody>
      </p:sp>
      <p:graphicFrame>
        <p:nvGraphicFramePr>
          <p:cNvPr id="379" name="Google Shape;379;p48"/>
          <p:cNvGraphicFramePr/>
          <p:nvPr/>
        </p:nvGraphicFramePr>
        <p:xfrm>
          <a:off x="276075" y="1372744"/>
          <a:ext cx="3000000" cy="3000000"/>
        </p:xfrm>
        <a:graphic>
          <a:graphicData uri="http://schemas.openxmlformats.org/drawingml/2006/table">
            <a:tbl>
              <a:tblPr>
                <a:noFill/>
                <a:tableStyleId>{25AEDA93-417F-497C-8809-40AAA259DC58}</a:tableStyleId>
              </a:tblPr>
              <a:tblGrid>
                <a:gridCol w="854425"/>
                <a:gridCol w="2314700"/>
                <a:gridCol w="2739250"/>
                <a:gridCol w="2472025"/>
              </a:tblGrid>
              <a:tr h="338700">
                <a:tc>
                  <a:txBody>
                    <a:bodyPr/>
                    <a:lstStyle/>
                    <a:p>
                      <a:pPr indent="0" lvl="0" marL="0" rtl="0" algn="ctr">
                        <a:spcBef>
                          <a:spcPts val="0"/>
                        </a:spcBef>
                        <a:spcAft>
                          <a:spcPts val="0"/>
                        </a:spcAft>
                        <a:buNone/>
                      </a:pPr>
                      <a:r>
                        <a:rPr lang="en" sz="900">
                          <a:latin typeface="Lato Light"/>
                          <a:ea typeface="Lato Light"/>
                          <a:cs typeface="Lato Light"/>
                          <a:sym typeface="Lato Light"/>
                        </a:rPr>
                        <a:t>On-Time</a:t>
                      </a:r>
                      <a:endParaRPr sz="900">
                        <a:latin typeface="Lato Light"/>
                        <a:ea typeface="Lato Light"/>
                        <a:cs typeface="Lato Light"/>
                        <a:sym typeface="Lato Light"/>
                      </a:endParaRPr>
                    </a:p>
                    <a:p>
                      <a:pPr indent="0" lvl="0" marL="0" rtl="0" algn="ctr">
                        <a:spcBef>
                          <a:spcPts val="0"/>
                        </a:spcBef>
                        <a:spcAft>
                          <a:spcPts val="0"/>
                        </a:spcAft>
                        <a:buNone/>
                      </a:pPr>
                      <a:r>
                        <a:rPr lang="en" sz="900">
                          <a:latin typeface="Lato Light"/>
                          <a:ea typeface="Lato Light"/>
                          <a:cs typeface="Lato Light"/>
                          <a:sym typeface="Lato Light"/>
                        </a:rPr>
                        <a:t>7.3%·642/yr</a:t>
                      </a:r>
                      <a:endParaRPr sz="900">
                        <a:latin typeface="Lato Light"/>
                        <a:ea typeface="Lato Light"/>
                        <a:cs typeface="Lato Light"/>
                        <a:sym typeface="Lato Light"/>
                      </a:endParaRPr>
                    </a:p>
                  </a:txBody>
                  <a:tcPr marT="0" marB="0" marR="91425" marL="91425" anchor="ctr">
                    <a:solidFill>
                      <a:srgbClr val="D9EAD3"/>
                    </a:solidFill>
                  </a:tcPr>
                </a:tc>
                <a:tc>
                  <a:txBody>
                    <a:bodyPr/>
                    <a:lstStyle/>
                    <a:p>
                      <a:pPr indent="0" lvl="0" marL="0" rtl="0" algn="ctr">
                        <a:spcBef>
                          <a:spcPts val="0"/>
                        </a:spcBef>
                        <a:spcAft>
                          <a:spcPts val="0"/>
                        </a:spcAft>
                        <a:buNone/>
                      </a:pPr>
                      <a:r>
                        <a:rPr lang="en" sz="1000">
                          <a:latin typeface="Lato"/>
                          <a:ea typeface="Lato"/>
                          <a:cs typeface="Lato"/>
                          <a:sym typeface="Lato"/>
                        </a:rPr>
                        <a:t>SWEET SPOT</a:t>
                      </a:r>
                      <a:endParaRPr sz="1000">
                        <a:latin typeface="Lato"/>
                        <a:ea typeface="Lato"/>
                        <a:cs typeface="Lato"/>
                        <a:sym typeface="Lato"/>
                      </a:endParaRPr>
                    </a:p>
                    <a:p>
                      <a:pPr indent="0" lvl="0" marL="0" rtl="0" algn="ctr">
                        <a:spcBef>
                          <a:spcPts val="0"/>
                        </a:spcBef>
                        <a:spcAft>
                          <a:spcPts val="0"/>
                        </a:spcAft>
                        <a:buNone/>
                      </a:pPr>
                      <a:r>
                        <a:rPr lang="en" sz="1000">
                          <a:latin typeface="Lato"/>
                          <a:ea typeface="Lato"/>
                          <a:cs typeface="Lato"/>
                          <a:sym typeface="Lato"/>
                        </a:rPr>
                        <a:t>31.5%</a:t>
                      </a:r>
                      <a:r>
                        <a:rPr lang="en" sz="1000">
                          <a:latin typeface="Lato"/>
                          <a:ea typeface="Lato"/>
                          <a:cs typeface="Lato"/>
                          <a:sym typeface="Lato"/>
                        </a:rPr>
                        <a:t>·2,750/yr</a:t>
                      </a:r>
                      <a:endParaRPr sz="1000">
                        <a:latin typeface="Lato"/>
                        <a:ea typeface="Lato"/>
                        <a:cs typeface="Lato"/>
                        <a:sym typeface="Lato"/>
                      </a:endParaRPr>
                    </a:p>
                  </a:txBody>
                  <a:tcPr marT="0" marB="0" marR="91425" marL="91425" anchor="ctr">
                    <a:solidFill>
                      <a:srgbClr val="FFF2CC"/>
                    </a:solidFill>
                  </a:tcPr>
                </a:tc>
                <a:tc>
                  <a:txBody>
                    <a:bodyPr/>
                    <a:lstStyle/>
                    <a:p>
                      <a:pPr indent="0" lvl="0" marL="0" rtl="0" algn="ctr">
                        <a:spcBef>
                          <a:spcPts val="0"/>
                        </a:spcBef>
                        <a:spcAft>
                          <a:spcPts val="0"/>
                        </a:spcAft>
                        <a:buNone/>
                      </a:pPr>
                      <a:r>
                        <a:rPr lang="en" sz="900">
                          <a:latin typeface="Lato Light"/>
                          <a:ea typeface="Lato Light"/>
                          <a:cs typeface="Lato Light"/>
                          <a:sym typeface="Lato Light"/>
                        </a:rPr>
                        <a:t>Moderate Delay</a:t>
                      </a:r>
                      <a:endParaRPr sz="900">
                        <a:latin typeface="Lato Light"/>
                        <a:ea typeface="Lato Light"/>
                        <a:cs typeface="Lato Light"/>
                        <a:sym typeface="Lato Light"/>
                      </a:endParaRPr>
                    </a:p>
                    <a:p>
                      <a:pPr indent="0" lvl="0" marL="0" rtl="0" algn="ctr">
                        <a:spcBef>
                          <a:spcPts val="0"/>
                        </a:spcBef>
                        <a:spcAft>
                          <a:spcPts val="0"/>
                        </a:spcAft>
                        <a:buNone/>
                      </a:pPr>
                      <a:r>
                        <a:rPr lang="en" sz="900">
                          <a:latin typeface="Lato Light"/>
                          <a:ea typeface="Lato Light"/>
                          <a:cs typeface="Lato Light"/>
                          <a:sym typeface="Lato Light"/>
                        </a:rPr>
                        <a:t>32.0%</a:t>
                      </a:r>
                      <a:r>
                        <a:rPr lang="en" sz="900">
                          <a:latin typeface="Lato Light"/>
                          <a:ea typeface="Lato Light"/>
                          <a:cs typeface="Lato Light"/>
                          <a:sym typeface="Lato Light"/>
                        </a:rPr>
                        <a:t>·2,791/yr</a:t>
                      </a:r>
                      <a:endParaRPr sz="900">
                        <a:latin typeface="Lato Light"/>
                        <a:ea typeface="Lato Light"/>
                        <a:cs typeface="Lato Light"/>
                        <a:sym typeface="Lato Light"/>
                      </a:endParaRPr>
                    </a:p>
                  </a:txBody>
                  <a:tcPr marT="0" marB="0" marR="91425" marL="91425" anchor="ctr">
                    <a:solidFill>
                      <a:srgbClr val="F9CB9C"/>
                    </a:solidFill>
                  </a:tcPr>
                </a:tc>
                <a:tc>
                  <a:txBody>
                    <a:bodyPr/>
                    <a:lstStyle/>
                    <a:p>
                      <a:pPr indent="0" lvl="0" marL="0" rtl="0" algn="ctr">
                        <a:spcBef>
                          <a:spcPts val="0"/>
                        </a:spcBef>
                        <a:spcAft>
                          <a:spcPts val="0"/>
                        </a:spcAft>
                        <a:buNone/>
                      </a:pPr>
                      <a:r>
                        <a:rPr lang="en" sz="900">
                          <a:latin typeface="Lato Light"/>
                          <a:ea typeface="Lato Light"/>
                          <a:cs typeface="Lato Light"/>
                          <a:sym typeface="Lato Light"/>
                        </a:rPr>
                        <a:t>Heavy / Extreme Delay</a:t>
                      </a:r>
                      <a:endParaRPr sz="900">
                        <a:latin typeface="Lato Light"/>
                        <a:ea typeface="Lato Light"/>
                        <a:cs typeface="Lato Light"/>
                        <a:sym typeface="Lato Light"/>
                      </a:endParaRPr>
                    </a:p>
                    <a:p>
                      <a:pPr indent="0" lvl="0" marL="0" rtl="0" algn="ctr">
                        <a:spcBef>
                          <a:spcPts val="0"/>
                        </a:spcBef>
                        <a:spcAft>
                          <a:spcPts val="0"/>
                        </a:spcAft>
                        <a:buNone/>
                      </a:pPr>
                      <a:r>
                        <a:rPr lang="en" sz="900">
                          <a:latin typeface="Lato Light"/>
                          <a:ea typeface="Lato Light"/>
                          <a:cs typeface="Lato Light"/>
                          <a:sym typeface="Lato Light"/>
                        </a:rPr>
                        <a:t>29.2%</a:t>
                      </a:r>
                      <a:r>
                        <a:rPr lang="en" sz="900">
                          <a:latin typeface="Lato Light"/>
                          <a:ea typeface="Lato Light"/>
                          <a:cs typeface="Lato Light"/>
                          <a:sym typeface="Lato Light"/>
                        </a:rPr>
                        <a:t>·2,553/yr</a:t>
                      </a:r>
                      <a:endParaRPr sz="900">
                        <a:latin typeface="Lato Light"/>
                        <a:ea typeface="Lato Light"/>
                        <a:cs typeface="Lato Light"/>
                        <a:sym typeface="Lato Light"/>
                      </a:endParaRPr>
                    </a:p>
                  </a:txBody>
                  <a:tcPr marT="0" marB="0" marR="91425" marL="91425" anchor="ctr">
                    <a:solidFill>
                      <a:srgbClr val="EA9999"/>
                    </a:solidFill>
                  </a:tcPr>
                </a:tc>
              </a:tr>
            </a:tbl>
          </a:graphicData>
        </a:graphic>
      </p:graphicFrame>
      <p:grpSp>
        <p:nvGrpSpPr>
          <p:cNvPr id="380" name="Google Shape;380;p48"/>
          <p:cNvGrpSpPr/>
          <p:nvPr/>
        </p:nvGrpSpPr>
        <p:grpSpPr>
          <a:xfrm>
            <a:off x="276075" y="1704002"/>
            <a:ext cx="8380399" cy="132250"/>
            <a:chOff x="276075" y="1641101"/>
            <a:chExt cx="8380399" cy="132250"/>
          </a:xfrm>
        </p:grpSpPr>
        <p:sp>
          <p:nvSpPr>
            <p:cNvPr id="381" name="Google Shape;381;p48"/>
            <p:cNvSpPr txBox="1"/>
            <p:nvPr/>
          </p:nvSpPr>
          <p:spPr>
            <a:xfrm>
              <a:off x="276075" y="1650351"/>
              <a:ext cx="336000" cy="1230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555555"/>
                </a:buClr>
                <a:buSzPts val="700"/>
                <a:buFont typeface="Calibri"/>
                <a:buNone/>
              </a:pPr>
              <a:r>
                <a:t/>
              </a:r>
              <a:endParaRPr sz="800">
                <a:solidFill>
                  <a:schemeClr val="lt1"/>
                </a:solidFill>
                <a:latin typeface="Lato"/>
                <a:ea typeface="Lato"/>
                <a:cs typeface="Lato"/>
                <a:sym typeface="Lato"/>
              </a:endParaRPr>
            </a:p>
          </p:txBody>
        </p:sp>
        <p:sp>
          <p:nvSpPr>
            <p:cNvPr id="382" name="Google Shape;382;p48"/>
            <p:cNvSpPr txBox="1"/>
            <p:nvPr/>
          </p:nvSpPr>
          <p:spPr>
            <a:xfrm>
              <a:off x="950650" y="1641101"/>
              <a:ext cx="3360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solidFill>
                    <a:srgbClr val="555555"/>
                  </a:solidFill>
                  <a:latin typeface="Lato"/>
                  <a:ea typeface="Lato"/>
                  <a:cs typeface="Lato"/>
                  <a:sym typeface="Lato"/>
                </a:rPr>
                <a:t>0.5h</a:t>
              </a:r>
              <a:endParaRPr sz="800">
                <a:solidFill>
                  <a:schemeClr val="lt1"/>
                </a:solidFill>
                <a:latin typeface="Lato"/>
                <a:ea typeface="Lato"/>
                <a:cs typeface="Lato"/>
                <a:sym typeface="Lato"/>
              </a:endParaRPr>
            </a:p>
          </p:txBody>
        </p:sp>
        <p:sp>
          <p:nvSpPr>
            <p:cNvPr id="383" name="Google Shape;383;p48"/>
            <p:cNvSpPr txBox="1"/>
            <p:nvPr/>
          </p:nvSpPr>
          <p:spPr>
            <a:xfrm>
              <a:off x="3245800" y="1641101"/>
              <a:ext cx="3360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solidFill>
                    <a:srgbClr val="555555"/>
                  </a:solidFill>
                  <a:latin typeface="Lato"/>
                  <a:ea typeface="Lato"/>
                  <a:cs typeface="Lato"/>
                  <a:sym typeface="Lato"/>
                </a:rPr>
                <a:t>6</a:t>
              </a:r>
              <a:r>
                <a:rPr lang="en" sz="800">
                  <a:solidFill>
                    <a:srgbClr val="555555"/>
                  </a:solidFill>
                  <a:latin typeface="Lato"/>
                  <a:ea typeface="Lato"/>
                  <a:cs typeface="Lato"/>
                  <a:sym typeface="Lato"/>
                </a:rPr>
                <a:t>.0h</a:t>
              </a:r>
              <a:endParaRPr sz="800">
                <a:solidFill>
                  <a:schemeClr val="lt1"/>
                </a:solidFill>
                <a:latin typeface="Lato"/>
                <a:ea typeface="Lato"/>
                <a:cs typeface="Lato"/>
                <a:sym typeface="Lato"/>
              </a:endParaRPr>
            </a:p>
          </p:txBody>
        </p:sp>
        <p:sp>
          <p:nvSpPr>
            <p:cNvPr id="384" name="Google Shape;384;p48"/>
            <p:cNvSpPr txBox="1"/>
            <p:nvPr/>
          </p:nvSpPr>
          <p:spPr>
            <a:xfrm>
              <a:off x="6066456" y="1650351"/>
              <a:ext cx="3360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solidFill>
                    <a:srgbClr val="555555"/>
                  </a:solidFill>
                  <a:latin typeface="Lato"/>
                  <a:ea typeface="Lato"/>
                  <a:cs typeface="Lato"/>
                  <a:sym typeface="Lato"/>
                </a:rPr>
                <a:t>10</a:t>
              </a:r>
              <a:r>
                <a:rPr lang="en" sz="800">
                  <a:solidFill>
                    <a:srgbClr val="555555"/>
                  </a:solidFill>
                  <a:latin typeface="Lato"/>
                  <a:ea typeface="Lato"/>
                  <a:cs typeface="Lato"/>
                  <a:sym typeface="Lato"/>
                </a:rPr>
                <a:t>h</a:t>
              </a:r>
              <a:endParaRPr sz="800">
                <a:solidFill>
                  <a:schemeClr val="lt1"/>
                </a:solidFill>
                <a:latin typeface="Lato"/>
                <a:ea typeface="Lato"/>
                <a:cs typeface="Lato"/>
                <a:sym typeface="Lato"/>
              </a:endParaRPr>
            </a:p>
          </p:txBody>
        </p:sp>
        <p:sp>
          <p:nvSpPr>
            <p:cNvPr id="385" name="Google Shape;385;p48"/>
            <p:cNvSpPr txBox="1"/>
            <p:nvPr/>
          </p:nvSpPr>
          <p:spPr>
            <a:xfrm>
              <a:off x="7417174" y="1650351"/>
              <a:ext cx="12393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i="1" lang="en" sz="800">
                  <a:solidFill>
                    <a:srgbClr val="555555"/>
                  </a:solidFill>
                  <a:latin typeface="Lato"/>
                  <a:ea typeface="Lato"/>
                  <a:cs typeface="Lato"/>
                  <a:sym typeface="Lato"/>
                </a:rPr>
                <a:t>predicted deviation →</a:t>
              </a:r>
              <a:endParaRPr i="1" sz="800">
                <a:solidFill>
                  <a:schemeClr val="lt1"/>
                </a:solidFill>
                <a:latin typeface="Lato"/>
                <a:ea typeface="Lato"/>
                <a:cs typeface="Lato"/>
                <a:sym typeface="Lato"/>
              </a:endParaRPr>
            </a:p>
          </p:txBody>
        </p:sp>
      </p:grpSp>
      <p:sp>
        <p:nvSpPr>
          <p:cNvPr id="386" name="Google Shape;386;p48"/>
          <p:cNvSpPr txBox="1"/>
          <p:nvPr/>
        </p:nvSpPr>
        <p:spPr>
          <a:xfrm>
            <a:off x="276075" y="1844287"/>
            <a:ext cx="8380500" cy="138600"/>
          </a:xfrm>
          <a:prstGeom prst="rect">
            <a:avLst/>
          </a:prstGeom>
          <a:noFill/>
          <a:ln cap="flat" cmpd="sng" w="9525">
            <a:solidFill>
              <a:srgbClr val="F1C232"/>
            </a:solidFill>
            <a:prstDash val="solid"/>
            <a:round/>
            <a:headEnd len="sm" w="sm" type="none"/>
            <a:tailEnd len="sm" w="sm" type="none"/>
          </a:ln>
        </p:spPr>
        <p:txBody>
          <a:bodyPr anchorCtr="0" anchor="ctr" bIns="0" lIns="91425" spcFirstLastPara="1" rIns="91425" wrap="square" tIns="0">
            <a:spAutoFit/>
          </a:bodyPr>
          <a:lstStyle/>
          <a:p>
            <a:pPr indent="0" lvl="0" marL="0" rtl="0" algn="ctr">
              <a:lnSpc>
                <a:spcPct val="100000"/>
              </a:lnSpc>
              <a:spcBef>
                <a:spcPts val="0"/>
              </a:spcBef>
              <a:spcAft>
                <a:spcPts val="0"/>
              </a:spcAft>
              <a:buNone/>
            </a:pPr>
            <a:r>
              <a:rPr b="1" lang="en" sz="900">
                <a:solidFill>
                  <a:schemeClr val="lt1"/>
                </a:solidFill>
                <a:latin typeface="Lato"/>
                <a:ea typeface="Lato"/>
                <a:cs typeface="Lato"/>
                <a:sym typeface="Lato"/>
              </a:rPr>
              <a:t>Sweet Spot: predicted deviation 0.5h &lt; d ≤  6.0h → close enough for intervention to work : max 5.5h  keeps below 0.5h threshold (dock grace period)</a:t>
            </a:r>
            <a:endParaRPr b="1" sz="900">
              <a:solidFill>
                <a:schemeClr val="lt1"/>
              </a:solidFill>
              <a:latin typeface="Lato"/>
              <a:ea typeface="Lato"/>
              <a:cs typeface="Lato"/>
              <a:sym typeface="Lato"/>
            </a:endParaRPr>
          </a:p>
        </p:txBody>
      </p:sp>
      <p:sp>
        <p:nvSpPr>
          <p:cNvPr id="387" name="Google Shape;387;p48"/>
          <p:cNvSpPr txBox="1"/>
          <p:nvPr/>
        </p:nvSpPr>
        <p:spPr>
          <a:xfrm>
            <a:off x="231149" y="2095523"/>
            <a:ext cx="7765200" cy="338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 sz="1000">
                <a:solidFill>
                  <a:schemeClr val="lt1"/>
                </a:solidFill>
                <a:latin typeface="Lato"/>
                <a:ea typeface="Lato"/>
                <a:cs typeface="Lato"/>
                <a:sym typeface="Lato"/>
              </a:rPr>
              <a:t>Pre-Departure Action Protocol for Sweet Spot Shipments (executed at dispatch flag, before truck departs)</a:t>
            </a:r>
            <a:endParaRPr b="1" sz="1000">
              <a:solidFill>
                <a:schemeClr val="lt1"/>
              </a:solidFill>
              <a:latin typeface="Lato"/>
              <a:ea typeface="Lato"/>
              <a:cs typeface="Lato"/>
              <a:sym typeface="Lato"/>
            </a:endParaRPr>
          </a:p>
        </p:txBody>
      </p:sp>
      <p:graphicFrame>
        <p:nvGraphicFramePr>
          <p:cNvPr id="388" name="Google Shape;388;p48"/>
          <p:cNvGraphicFramePr/>
          <p:nvPr/>
        </p:nvGraphicFramePr>
        <p:xfrm>
          <a:off x="276085" y="2363003"/>
          <a:ext cx="3000000" cy="3000000"/>
        </p:xfrm>
        <a:graphic>
          <a:graphicData uri="http://schemas.openxmlformats.org/drawingml/2006/table">
            <a:tbl>
              <a:tblPr>
                <a:noFill/>
                <a:tableStyleId>{9EAB60A1-F282-4133-BFD4-AC10505FC9C3}</a:tableStyleId>
              </a:tblPr>
              <a:tblGrid>
                <a:gridCol w="1679175"/>
                <a:gridCol w="786250"/>
                <a:gridCol w="878450"/>
                <a:gridCol w="4180675"/>
                <a:gridCol w="855825"/>
              </a:tblGrid>
              <a:tr h="129575">
                <a:tc>
                  <a:txBody>
                    <a:bodyPr/>
                    <a:lstStyle/>
                    <a:p>
                      <a:pPr indent="0" lvl="0" marL="0" marR="0" rtl="0" algn="l">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Feature (Model Signal)</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Coefficient</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Max Reduction</a:t>
                      </a:r>
                      <a:endParaRPr sz="800"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(1 IQR shift)</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Dispatcher Action on Flagged Shipment</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20"/>
                        <a:buFont typeface="Calibri"/>
                        <a:buNone/>
                      </a:pPr>
                      <a:r>
                        <a:rPr lang="en" sz="800" u="none" cap="none" strike="noStrike">
                          <a:solidFill>
                            <a:schemeClr val="lt1"/>
                          </a:solidFill>
                          <a:latin typeface="Lato"/>
                          <a:ea typeface="Lato"/>
                          <a:cs typeface="Lato"/>
                          <a:sym typeface="Lato"/>
                        </a:rPr>
                        <a:t>Owner</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4125">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driver_behavior_score</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−1.18</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2</a:t>
                      </a: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35</a:t>
                      </a:r>
                      <a:r>
                        <a:rPr lang="en" sz="800" u="none" cap="none" strike="noStrike">
                          <a:solidFill>
                            <a:schemeClr val="lt1"/>
                          </a:solidFill>
                          <a:latin typeface="Lato"/>
                          <a:ea typeface="Lato"/>
                          <a:cs typeface="Lato"/>
                          <a:sym typeface="Lato"/>
                        </a:rPr>
                        <a:t>h</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Swap to higher-scoring driver if available at depot</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Dispatcher</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accent3"/>
                      </a:solidFill>
                      <a:prstDash val="solid"/>
                      <a:round/>
                      <a:headEnd len="sm" w="sm" type="none"/>
                      <a:tailEnd len="sm" w="sm" type="none"/>
                    </a:lnB>
                  </a:tcPr>
                </a:tc>
              </a:tr>
              <a:tr h="104125">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handling_equipment_availability</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−0.65</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1</a:t>
                      </a: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4</a:t>
                      </a:r>
                      <a:r>
                        <a:rPr lang="en" sz="800" u="none" cap="none" strike="noStrike">
                          <a:solidFill>
                            <a:schemeClr val="lt1"/>
                          </a:solidFill>
                          <a:latin typeface="Lato"/>
                          <a:ea typeface="Lato"/>
                          <a:cs typeface="Lato"/>
                          <a:sym typeface="Lato"/>
                        </a:rPr>
                        <a:t>5h</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Confirm forklift/dock door assignment before departure window</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Yard Ops</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04125">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route_risk_level  (highest impact)</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+0.78</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1</a:t>
                      </a:r>
                      <a:r>
                        <a:rPr lang="en" sz="800" u="none" cap="none" strike="noStrike">
                          <a:solidFill>
                            <a:schemeClr val="lt1"/>
                          </a:solidFill>
                          <a:latin typeface="Lato"/>
                          <a:ea typeface="Lato"/>
                          <a:cs typeface="Lato"/>
                          <a:sym typeface="Lato"/>
                        </a:rPr>
                        <a:t>.</a:t>
                      </a:r>
                      <a:r>
                        <a:rPr lang="en" sz="800">
                          <a:solidFill>
                            <a:schemeClr val="lt1"/>
                          </a:solidFill>
                          <a:latin typeface="Lato"/>
                          <a:ea typeface="Lato"/>
                          <a:cs typeface="Lato"/>
                          <a:sym typeface="Lato"/>
                        </a:rPr>
                        <a:t>15</a:t>
                      </a:r>
                      <a:r>
                        <a:rPr lang="en" sz="800" u="none" cap="none" strike="noStrike">
                          <a:solidFill>
                            <a:schemeClr val="lt1"/>
                          </a:solidFill>
                          <a:latin typeface="Lato"/>
                          <a:ea typeface="Lato"/>
                          <a:cs typeface="Lato"/>
                          <a:sym typeface="Lato"/>
                        </a:rPr>
                        <a:t>h</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Reassign to alternative corridor with lower congestion/risk score</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Dispatcher</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04125">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loading_unloading_time</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+0.28</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−0.</a:t>
                      </a:r>
                      <a:r>
                        <a:rPr lang="en" sz="800">
                          <a:solidFill>
                            <a:schemeClr val="lt1"/>
                          </a:solidFill>
                          <a:latin typeface="Lato"/>
                          <a:ea typeface="Lato"/>
                          <a:cs typeface="Lato"/>
                          <a:sym typeface="Lato"/>
                        </a:rPr>
                        <a:t>53</a:t>
                      </a:r>
                      <a:r>
                        <a:rPr lang="en" sz="800" u="none" cap="none" strike="noStrike">
                          <a:solidFill>
                            <a:schemeClr val="lt1"/>
                          </a:solidFill>
                          <a:latin typeface="Lato"/>
                          <a:ea typeface="Lato"/>
                          <a:cs typeface="Lato"/>
                          <a:sym typeface="Lato"/>
                        </a:rPr>
                        <a:t>h</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Pre-stage crew and equipment 30 min before scheduled loading</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20"/>
                        <a:buFont typeface="Calibri"/>
                        <a:buNone/>
                      </a:pPr>
                      <a:r>
                        <a:rPr lang="en" sz="800" u="none" cap="none" strike="noStrike">
                          <a:solidFill>
                            <a:schemeClr val="lt1"/>
                          </a:solidFill>
                          <a:latin typeface="Lato"/>
                          <a:ea typeface="Lato"/>
                          <a:cs typeface="Lato"/>
                          <a:sym typeface="Lato"/>
                        </a:rPr>
                        <a:t>Yard Ops</a:t>
                      </a:r>
                      <a:endParaRPr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lt1"/>
                      </a:solidFill>
                      <a:prstDash val="solid"/>
                      <a:round/>
                      <a:headEnd len="sm" w="sm" type="none"/>
                      <a:tailEnd len="sm" w="sm" type="none"/>
                    </a:lnB>
                  </a:tcPr>
                </a:tc>
              </a:tr>
              <a:tr h="129575">
                <a:tc>
                  <a:txBody>
                    <a:bodyPr/>
                    <a:lstStyle/>
                    <a:p>
                      <a:pPr indent="0" lvl="0" marL="0" marR="0" rtl="0" algn="l">
                        <a:spcBef>
                          <a:spcPts val="0"/>
                        </a:spcBef>
                        <a:spcAft>
                          <a:spcPts val="0"/>
                        </a:spcAft>
                        <a:buClr>
                          <a:srgbClr val="111111"/>
                        </a:buClr>
                        <a:buSzPts val="820"/>
                        <a:buFont typeface="Calibri"/>
                        <a:buNone/>
                      </a:pPr>
                      <a:r>
                        <a:rPr b="1" lang="en" sz="800" u="none" cap="none" strike="noStrike">
                          <a:solidFill>
                            <a:schemeClr val="lt1"/>
                          </a:solidFill>
                          <a:latin typeface="Lato"/>
                          <a:ea typeface="Lato"/>
                          <a:cs typeface="Lato"/>
                          <a:sym typeface="Lato"/>
                        </a:rPr>
                        <a:t>Combined ceiling (all 4 applied)</a:t>
                      </a:r>
                      <a:endParaRPr b="1" sz="800" u="none" cap="none" strike="noStrike">
                        <a:solidFill>
                          <a:schemeClr val="lt1"/>
                        </a:solidFill>
                        <a:latin typeface="Lato"/>
                        <a:ea typeface="Lato"/>
                        <a:cs typeface="Lato"/>
                        <a:sym typeface="Lato"/>
                      </a:endParaRPr>
                    </a:p>
                  </a:txBody>
                  <a:tcPr marT="45725" marB="45725" marR="91450" marL="91450">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20"/>
                        <a:buFont typeface="Calibri"/>
                        <a:buNone/>
                      </a:pPr>
                      <a:r>
                        <a:t/>
                      </a:r>
                      <a:endParaRPr b="1"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rgbClr val="1A5276"/>
                        </a:buClr>
                        <a:buSzPts val="820"/>
                        <a:buFont typeface="Calibri"/>
                        <a:buNone/>
                      </a:pPr>
                      <a:r>
                        <a:rPr b="1" lang="en" sz="800" u="none" cap="none" strike="noStrike">
                          <a:solidFill>
                            <a:schemeClr val="lt1"/>
                          </a:solidFill>
                          <a:latin typeface="Lato"/>
                          <a:ea typeface="Lato"/>
                          <a:cs typeface="Lato"/>
                          <a:sym typeface="Lato"/>
                        </a:rPr>
                        <a:t>−</a:t>
                      </a:r>
                      <a:r>
                        <a:rPr b="1" lang="en" sz="800">
                          <a:solidFill>
                            <a:schemeClr val="lt1"/>
                          </a:solidFill>
                          <a:latin typeface="Lato"/>
                          <a:ea typeface="Lato"/>
                          <a:cs typeface="Lato"/>
                          <a:sym typeface="Lato"/>
                        </a:rPr>
                        <a:t>5</a:t>
                      </a:r>
                      <a:r>
                        <a:rPr b="1" lang="en" sz="800" u="none" cap="none" strike="noStrike">
                          <a:solidFill>
                            <a:schemeClr val="lt1"/>
                          </a:solidFill>
                          <a:latin typeface="Lato"/>
                          <a:ea typeface="Lato"/>
                          <a:cs typeface="Lato"/>
                          <a:sym typeface="Lato"/>
                        </a:rPr>
                        <a:t>.</a:t>
                      </a:r>
                      <a:r>
                        <a:rPr b="1" lang="en" sz="800">
                          <a:solidFill>
                            <a:schemeClr val="lt1"/>
                          </a:solidFill>
                          <a:latin typeface="Lato"/>
                          <a:ea typeface="Lato"/>
                          <a:cs typeface="Lato"/>
                          <a:sym typeface="Lato"/>
                        </a:rPr>
                        <a:t>48</a:t>
                      </a:r>
                      <a:r>
                        <a:rPr b="1" lang="en" sz="800" u="none" cap="none" strike="noStrike">
                          <a:solidFill>
                            <a:schemeClr val="lt1"/>
                          </a:solidFill>
                          <a:latin typeface="Lato"/>
                          <a:ea typeface="Lato"/>
                          <a:cs typeface="Lato"/>
                          <a:sym typeface="Lato"/>
                        </a:rPr>
                        <a:t>h</a:t>
                      </a:r>
                      <a:endParaRPr b="1"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A5276"/>
                        </a:buClr>
                        <a:buSzPts val="820"/>
                        <a:buFont typeface="Calibri"/>
                        <a:buNone/>
                      </a:pPr>
                      <a:r>
                        <a:rPr b="1" i="1" lang="en" sz="800" u="none" cap="none" strike="noStrike">
                          <a:solidFill>
                            <a:schemeClr val="lt1"/>
                          </a:solidFill>
                          <a:latin typeface="Lato"/>
                          <a:ea typeface="Lato"/>
                          <a:cs typeface="Lato"/>
                          <a:sym typeface="Lato"/>
                        </a:rPr>
                        <a:t>Brings predicted delay from </a:t>
                      </a:r>
                      <a:r>
                        <a:rPr b="1" i="1" lang="en" sz="800">
                          <a:solidFill>
                            <a:schemeClr val="lt1"/>
                          </a:solidFill>
                          <a:latin typeface="Lato"/>
                          <a:ea typeface="Lato"/>
                          <a:cs typeface="Lato"/>
                          <a:sym typeface="Lato"/>
                        </a:rPr>
                        <a:t>6</a:t>
                      </a:r>
                      <a:r>
                        <a:rPr b="1" i="1" lang="en" sz="800" u="none" cap="none" strike="noStrike">
                          <a:solidFill>
                            <a:schemeClr val="lt1"/>
                          </a:solidFill>
                          <a:latin typeface="Lato"/>
                          <a:ea typeface="Lato"/>
                          <a:cs typeface="Lato"/>
                          <a:sym typeface="Lato"/>
                        </a:rPr>
                        <a:t>.</a:t>
                      </a:r>
                      <a:r>
                        <a:rPr b="1" i="1" lang="en" sz="800">
                          <a:solidFill>
                            <a:schemeClr val="lt1"/>
                          </a:solidFill>
                          <a:latin typeface="Lato"/>
                          <a:ea typeface="Lato"/>
                          <a:cs typeface="Lato"/>
                          <a:sym typeface="Lato"/>
                        </a:rPr>
                        <a:t>0</a:t>
                      </a:r>
                      <a:r>
                        <a:rPr b="1" i="1" lang="en" sz="800" u="none" cap="none" strike="noStrike">
                          <a:solidFill>
                            <a:schemeClr val="lt1"/>
                          </a:solidFill>
                          <a:latin typeface="Lato"/>
                          <a:ea typeface="Lato"/>
                          <a:cs typeface="Lato"/>
                          <a:sym typeface="Lato"/>
                        </a:rPr>
                        <a:t>h → ≤ 0.5h  (within dock threshold)  →  OTIF penalty avoided</a:t>
                      </a:r>
                      <a:endParaRPr b="1"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20"/>
                        <a:buFont typeface="Calibri"/>
                        <a:buNone/>
                      </a:pPr>
                      <a:r>
                        <a:t/>
                      </a:r>
                      <a:endParaRPr b="1" sz="800" u="none" cap="none" strike="noStrike">
                        <a:solidFill>
                          <a:schemeClr val="lt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89" name="Google Shape;389;p48"/>
          <p:cNvSpPr txBox="1"/>
          <p:nvPr/>
        </p:nvSpPr>
        <p:spPr>
          <a:xfrm>
            <a:off x="240131" y="3997875"/>
            <a:ext cx="7765200" cy="338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 sz="1000">
                <a:solidFill>
                  <a:schemeClr val="lt1"/>
                </a:solidFill>
                <a:latin typeface="Lato"/>
                <a:ea typeface="Lato"/>
                <a:cs typeface="Lato"/>
                <a:sym typeface="Lato"/>
              </a:rPr>
              <a:t>Why the Sweet Spot only?</a:t>
            </a:r>
            <a:endParaRPr b="1" sz="1000">
              <a:solidFill>
                <a:schemeClr val="lt1"/>
              </a:solidFill>
              <a:latin typeface="Lato"/>
              <a:ea typeface="Lato"/>
              <a:cs typeface="Lato"/>
              <a:sym typeface="Lato"/>
            </a:endParaRPr>
          </a:p>
        </p:txBody>
      </p:sp>
      <p:graphicFrame>
        <p:nvGraphicFramePr>
          <p:cNvPr id="390" name="Google Shape;390;p48"/>
          <p:cNvGraphicFramePr/>
          <p:nvPr/>
        </p:nvGraphicFramePr>
        <p:xfrm>
          <a:off x="276075" y="4261211"/>
          <a:ext cx="3000000" cy="3000000"/>
        </p:xfrm>
        <a:graphic>
          <a:graphicData uri="http://schemas.openxmlformats.org/drawingml/2006/table">
            <a:tbl>
              <a:tblPr>
                <a:noFill/>
                <a:tableStyleId>{25AEDA93-417F-497C-8809-40AAA259DC58}</a:tableStyleId>
              </a:tblPr>
              <a:tblGrid>
                <a:gridCol w="2285125"/>
                <a:gridCol w="6095250"/>
              </a:tblGrid>
              <a:tr h="304800">
                <a:tc>
                  <a:txBody>
                    <a:bodyPr/>
                    <a:lstStyle/>
                    <a:p>
                      <a:pPr indent="0" lvl="0" marL="0" rtl="0" algn="l">
                        <a:spcBef>
                          <a:spcPts val="0"/>
                        </a:spcBef>
                        <a:spcAft>
                          <a:spcPts val="0"/>
                        </a:spcAft>
                        <a:buNone/>
                      </a:pPr>
                      <a:r>
                        <a:rPr lang="en" sz="900">
                          <a:latin typeface="Lato"/>
                          <a:ea typeface="Lato"/>
                          <a:cs typeface="Lato"/>
                          <a:sym typeface="Lato"/>
                        </a:rPr>
                        <a:t>On-Time (</a:t>
                      </a:r>
                      <a:r>
                        <a:rPr lang="en" sz="900">
                          <a:solidFill>
                            <a:srgbClr val="111111"/>
                          </a:solidFill>
                          <a:latin typeface="Lato"/>
                          <a:ea typeface="Lato"/>
                          <a:cs typeface="Lato"/>
                          <a:sym typeface="Lato"/>
                        </a:rPr>
                        <a:t>≤ 0.5h) </a:t>
                      </a:r>
                      <a:r>
                        <a:rPr lang="en" sz="900">
                          <a:latin typeface="Lato"/>
                          <a:ea typeface="Lato"/>
                          <a:cs typeface="Lato"/>
                          <a:sym typeface="Lato"/>
                        </a:rPr>
                        <a:t>· 642/yr</a:t>
                      </a:r>
                      <a:endParaRPr sz="900">
                        <a:latin typeface="Lato"/>
                        <a:ea typeface="Lato"/>
                        <a:cs typeface="Lato"/>
                        <a:sym typeface="Lato"/>
                      </a:endParaRPr>
                    </a:p>
                  </a:txBody>
                  <a:tcPr marT="0" marB="0"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l">
                        <a:spcBef>
                          <a:spcPts val="0"/>
                        </a:spcBef>
                        <a:spcAft>
                          <a:spcPts val="0"/>
                        </a:spcAft>
                        <a:buNone/>
                      </a:pPr>
                      <a:r>
                        <a:rPr lang="en" sz="900">
                          <a:latin typeface="Lato"/>
                          <a:ea typeface="Lato"/>
                          <a:cs typeface="Lato"/>
                          <a:sym typeface="Lato"/>
                        </a:rPr>
                        <a:t>Already within dock threshold. No penalty risk. No intervention needed.</a:t>
                      </a:r>
                      <a:endParaRPr sz="900">
                        <a:latin typeface="Lato"/>
                        <a:ea typeface="Lato"/>
                        <a:cs typeface="Lato"/>
                        <a:sym typeface="Lato"/>
                      </a:endParaRPr>
                    </a:p>
                  </a:txBody>
                  <a:tcPr marT="0" marB="0" marR="91425" marL="91425" anchor="ctr">
                    <a:lnR cap="flat" cmpd="sng" w="9525">
                      <a:solidFill>
                        <a:srgbClr val="9E9E9E">
                          <a:alpha val="0"/>
                        </a:srgbClr>
                      </a:solidFill>
                      <a:prstDash val="solid"/>
                      <a:round/>
                      <a:headEnd len="sm" w="sm" type="none"/>
                      <a:tailEnd len="sm" w="sm" type="none"/>
                    </a:lnR>
                  </a:tcPr>
                </a:tc>
              </a:tr>
              <a:tr h="304800">
                <a:tc>
                  <a:txBody>
                    <a:bodyPr/>
                    <a:lstStyle/>
                    <a:p>
                      <a:pPr indent="0" lvl="0" marL="0" rtl="0" algn="l">
                        <a:spcBef>
                          <a:spcPts val="0"/>
                        </a:spcBef>
                        <a:spcAft>
                          <a:spcPts val="0"/>
                        </a:spcAft>
                        <a:buNone/>
                      </a:pPr>
                      <a:r>
                        <a:rPr lang="en" sz="900">
                          <a:latin typeface="Lato"/>
                          <a:ea typeface="Lato"/>
                          <a:cs typeface="Lato"/>
                          <a:sym typeface="Lato"/>
                        </a:rPr>
                        <a:t>Moderate / Heavy(&gt;6.0h) </a:t>
                      </a:r>
                      <a:r>
                        <a:rPr lang="en" sz="900">
                          <a:latin typeface="Lato"/>
                          <a:ea typeface="Lato"/>
                          <a:cs typeface="Lato"/>
                          <a:sym typeface="Lato"/>
                        </a:rPr>
                        <a:t>· 5,344/yr</a:t>
                      </a:r>
                      <a:endParaRPr sz="900">
                        <a:latin typeface="Lato"/>
                        <a:ea typeface="Lato"/>
                        <a:cs typeface="Lato"/>
                        <a:sym typeface="Lato"/>
                      </a:endParaRPr>
                    </a:p>
                  </a:txBody>
                  <a:tcPr marT="0" marB="0"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l">
                        <a:spcBef>
                          <a:spcPts val="0"/>
                        </a:spcBef>
                        <a:spcAft>
                          <a:spcPts val="0"/>
                        </a:spcAft>
                        <a:buNone/>
                      </a:pPr>
                      <a:r>
                        <a:rPr lang="en" sz="900">
                          <a:latin typeface="Lato"/>
                          <a:ea typeface="Lato"/>
                          <a:cs typeface="Lato"/>
                          <a:sym typeface="Lato"/>
                        </a:rPr>
                        <a:t>Predicted delay exceeds max intervention capacity(5.5h) /</a:t>
                      </a:r>
                      <a:endParaRPr sz="900">
                        <a:latin typeface="Lato"/>
                        <a:ea typeface="Lato"/>
                        <a:cs typeface="Lato"/>
                        <a:sym typeface="Lato"/>
                      </a:endParaRPr>
                    </a:p>
                    <a:p>
                      <a:pPr indent="0" lvl="0" marL="0" rtl="0" algn="l">
                        <a:spcBef>
                          <a:spcPts val="0"/>
                        </a:spcBef>
                        <a:spcAft>
                          <a:spcPts val="0"/>
                        </a:spcAft>
                        <a:buNone/>
                      </a:pPr>
                      <a:r>
                        <a:rPr lang="en" sz="900">
                          <a:latin typeface="Lato"/>
                          <a:ea typeface="Lato"/>
                          <a:cs typeface="Lato"/>
                          <a:sym typeface="Lato"/>
                        </a:rPr>
                        <a:t>Even perfect execution cannot bring below threshold. Do no waste resources - escalate or renegotiate appointment</a:t>
                      </a:r>
                      <a:endParaRPr sz="900">
                        <a:latin typeface="Lato"/>
                        <a:ea typeface="Lato"/>
                        <a:cs typeface="Lato"/>
                        <a:sym typeface="Lato"/>
                      </a:endParaRPr>
                    </a:p>
                  </a:txBody>
                  <a:tcPr marT="0" marB="0" marR="91425" marL="91425" anchor="ctr">
                    <a:lnR cap="flat" cmpd="sng" w="9525">
                      <a:solidFill>
                        <a:srgbClr val="9E9E9E">
                          <a:alpha val="0"/>
                        </a:srgbClr>
                      </a:solidFill>
                      <a:prstDash val="solid"/>
                      <a:round/>
                      <a:headEnd len="sm" w="sm" type="none"/>
                      <a:tailEnd len="sm" w="sm" type="none"/>
                    </a:lnR>
                  </a:tcPr>
                </a:tc>
              </a:tr>
            </a:tbl>
          </a:graphicData>
        </a:graphic>
      </p:graphicFrame>
      <p:sp>
        <p:nvSpPr>
          <p:cNvPr id="391" name="Google Shape;391;p48"/>
          <p:cNvSpPr txBox="1"/>
          <p:nvPr/>
        </p:nvSpPr>
        <p:spPr>
          <a:xfrm>
            <a:off x="269101" y="3770138"/>
            <a:ext cx="8605800" cy="149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AAAAAA"/>
              </a:buClr>
              <a:buSzPts val="750"/>
              <a:buFont typeface="Calibri"/>
              <a:buNone/>
            </a:pPr>
            <a:r>
              <a:rPr i="1" lang="en" sz="800">
                <a:solidFill>
                  <a:schemeClr val="lt1"/>
                </a:solidFill>
                <a:latin typeface="Lato Light"/>
                <a:ea typeface="Lato Light"/>
                <a:cs typeface="Lato Light"/>
                <a:sym typeface="Lato Light"/>
              </a:rPr>
              <a:t>Coefficients are correlational, not causal — actual savings require A/B pilot validation. All signals are pre-departure (no in-transit data required). R² = 0.45 · RMSE = 3.37h</a:t>
            </a:r>
            <a:endParaRPr i="1" sz="800">
              <a:solidFill>
                <a:schemeClr val="lt1"/>
              </a:solidFill>
              <a:latin typeface="Lato Light"/>
              <a:ea typeface="Lato Light"/>
              <a:cs typeface="Lato Light"/>
              <a:sym typeface="Lat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95" name="Shape 395"/>
        <p:cNvGrpSpPr/>
        <p:nvPr/>
      </p:nvGrpSpPr>
      <p:grpSpPr>
        <a:xfrm>
          <a:off x="0" y="0"/>
          <a:ext cx="0" cy="0"/>
          <a:chOff x="0" y="0"/>
          <a:chExt cx="0" cy="0"/>
        </a:xfrm>
      </p:grpSpPr>
      <p:sp>
        <p:nvSpPr>
          <p:cNvPr id="396" name="Google Shape;396;p49"/>
          <p:cNvSpPr txBox="1"/>
          <p:nvPr>
            <p:ph type="title"/>
          </p:nvPr>
        </p:nvSpPr>
        <p:spPr>
          <a:xfrm>
            <a:off x="1182150" y="1765350"/>
            <a:ext cx="6779700" cy="1765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Thank you! </a:t>
            </a:r>
            <a:endParaRPr/>
          </a:p>
          <a:p>
            <a:pPr indent="0" lvl="0" marL="0" rtl="0" algn="ctr">
              <a:spcBef>
                <a:spcPts val="0"/>
              </a:spcBef>
              <a:spcAft>
                <a:spcPts val="0"/>
              </a:spcAft>
              <a:buNone/>
            </a:pPr>
            <a:r>
              <a:rPr lang="en"/>
              <a:t>Any questions?</a:t>
            </a:r>
            <a:endParaRPr/>
          </a:p>
        </p:txBody>
      </p:sp>
      <p:pic>
        <p:nvPicPr>
          <p:cNvPr descr="A modern glass building under a sunny blue sky. " id="397" name="Google Shape;397;p49"/>
          <p:cNvPicPr preferRelativeResize="0"/>
          <p:nvPr/>
        </p:nvPicPr>
        <p:blipFill rotWithShape="1">
          <a:blip r:embed="rId3">
            <a:alphaModFix/>
          </a:blip>
          <a:srcRect b="36562" l="0" r="0" t="46566"/>
          <a:stretch/>
        </p:blipFill>
        <p:spPr>
          <a:xfrm>
            <a:off x="9127" y="0"/>
            <a:ext cx="9143997" cy="1028275"/>
          </a:xfrm>
          <a:prstGeom prst="rect">
            <a:avLst/>
          </a:prstGeom>
          <a:noFill/>
          <a:ln>
            <a:noFill/>
          </a:ln>
        </p:spPr>
      </p:pic>
      <p:sp>
        <p:nvSpPr>
          <p:cNvPr id="398" name="Google Shape;398;p4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399" name="Google Shape;399;p49"/>
          <p:cNvCxnSpPr/>
          <p:nvPr/>
        </p:nvCxnSpPr>
        <p:spPr>
          <a:xfrm rot="10800000">
            <a:off x="283720" y="4607525"/>
            <a:ext cx="85773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50"/>
          <p:cNvSpPr/>
          <p:nvPr/>
        </p:nvSpPr>
        <p:spPr>
          <a:xfrm>
            <a:off x="365760" y="164592"/>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2000"/>
              <a:buFont typeface="Calibri"/>
              <a:buNone/>
            </a:pPr>
            <a:r>
              <a:rPr i="0" lang="en" sz="2000" u="none" cap="none" strike="noStrike">
                <a:solidFill>
                  <a:srgbClr val="111111"/>
                </a:solidFill>
                <a:latin typeface="Playfair Display"/>
                <a:ea typeface="Playfair Display"/>
                <a:cs typeface="Playfair Display"/>
                <a:sym typeface="Playfair Display"/>
              </a:rPr>
              <a:t>Appendix A  Penalty Rate Structure &amp; Calculation Basis</a:t>
            </a:r>
            <a:endParaRPr i="0" sz="2000" u="none" cap="none" strike="noStrike">
              <a:solidFill>
                <a:schemeClr val="dk1"/>
              </a:solidFill>
              <a:latin typeface="Playfair Display"/>
              <a:ea typeface="Playfair Display"/>
              <a:cs typeface="Playfair Display"/>
              <a:sym typeface="Playfair Display"/>
            </a:endParaRPr>
          </a:p>
        </p:txBody>
      </p:sp>
      <p:cxnSp>
        <p:nvCxnSpPr>
          <p:cNvPr id="406" name="Google Shape;406;p50"/>
          <p:cNvCxnSpPr/>
          <p:nvPr/>
        </p:nvCxnSpPr>
        <p:spPr>
          <a:xfrm>
            <a:off x="365760" y="658368"/>
            <a:ext cx="8412600" cy="0"/>
          </a:xfrm>
          <a:prstGeom prst="straightConnector1">
            <a:avLst/>
          </a:prstGeom>
          <a:noFill/>
          <a:ln cap="flat" cmpd="sng" w="9525">
            <a:solidFill>
              <a:srgbClr val="999999"/>
            </a:solidFill>
            <a:prstDash val="solid"/>
            <a:round/>
            <a:headEnd len="sm" w="sm" type="none"/>
            <a:tailEnd len="sm" w="sm" type="none"/>
          </a:ln>
        </p:spPr>
      </p:cxnSp>
      <p:sp>
        <p:nvSpPr>
          <p:cNvPr id="407" name="Google Shape;407;p50"/>
          <p:cNvSpPr/>
          <p:nvPr/>
        </p:nvSpPr>
        <p:spPr>
          <a:xfrm>
            <a:off x="365760" y="749808"/>
            <a:ext cx="8412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900"/>
              <a:buFont typeface="Calibri"/>
              <a:buNone/>
            </a:pPr>
            <a:r>
              <a:rPr i="0" lang="en" sz="900" u="none" cap="none" strike="noStrike">
                <a:solidFill>
                  <a:srgbClr val="111111"/>
                </a:solidFill>
                <a:latin typeface="Lato"/>
                <a:ea typeface="Lato"/>
                <a:cs typeface="Lato"/>
                <a:sym typeface="Lato"/>
              </a:rPr>
              <a:t>1. Penalty Rate Structure (Industry Standard)</a:t>
            </a:r>
            <a:endParaRPr i="0" sz="900" u="none" cap="none" strike="noStrike">
              <a:solidFill>
                <a:schemeClr val="dk1"/>
              </a:solidFill>
              <a:latin typeface="Lato"/>
              <a:ea typeface="Lato"/>
              <a:cs typeface="Lato"/>
              <a:sym typeface="Lato"/>
            </a:endParaRPr>
          </a:p>
        </p:txBody>
      </p:sp>
      <p:graphicFrame>
        <p:nvGraphicFramePr>
          <p:cNvPr id="408" name="Google Shape;408;p50"/>
          <p:cNvGraphicFramePr/>
          <p:nvPr/>
        </p:nvGraphicFramePr>
        <p:xfrm>
          <a:off x="365760" y="920698"/>
          <a:ext cx="3000000" cy="3000000"/>
        </p:xfrm>
        <a:graphic>
          <a:graphicData uri="http://schemas.openxmlformats.org/drawingml/2006/table">
            <a:tbl>
              <a:tblPr>
                <a:noFill/>
                <a:tableStyleId>{9EAB60A1-F282-4133-BFD4-AC10505FC9C3}</a:tableStyleId>
              </a:tblPr>
              <a:tblGrid>
                <a:gridCol w="1575275"/>
                <a:gridCol w="3727550"/>
                <a:gridCol w="1261150"/>
                <a:gridCol w="1848500"/>
              </a:tblGrid>
              <a:tr h="219450">
                <a:tc>
                  <a:txBody>
                    <a:bodyPr/>
                    <a:lstStyle/>
                    <a:p>
                      <a:pPr indent="0" lvl="0" marL="0" marR="0" rtl="0" algn="l">
                        <a:spcBef>
                          <a:spcPts val="0"/>
                        </a:spcBef>
                        <a:spcAft>
                          <a:spcPts val="0"/>
                        </a:spcAft>
                        <a:buClr>
                          <a:srgbClr val="FFFFFF"/>
                        </a:buClr>
                        <a:buSzPts val="850"/>
                        <a:buFont typeface="Calibri"/>
                        <a:buNone/>
                      </a:pPr>
                      <a:r>
                        <a:rPr lang="en" sz="700" u="none" cap="none" strike="noStrike">
                          <a:solidFill>
                            <a:schemeClr val="dk1"/>
                          </a:solidFill>
                          <a:latin typeface="Lato"/>
                          <a:ea typeface="Lato"/>
                          <a:cs typeface="Lato"/>
                          <a:sym typeface="Lato"/>
                        </a:rPr>
                        <a:t>Penalty Type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50"/>
                        <a:buFont typeface="Calibri"/>
                        <a:buNone/>
                      </a:pPr>
                      <a:r>
                        <a:rPr lang="en" sz="700" u="none" cap="none" strike="noStrike">
                          <a:solidFill>
                            <a:schemeClr val="dk1"/>
                          </a:solidFill>
                          <a:latin typeface="Lato"/>
                          <a:ea typeface="Lato"/>
                          <a:cs typeface="Lato"/>
                          <a:sym typeface="Lato"/>
                        </a:rPr>
                        <a:t>Structure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50"/>
                        <a:buFont typeface="Calibri"/>
                        <a:buNone/>
                      </a:pPr>
                      <a:r>
                        <a:rPr lang="en" sz="700" u="none" cap="none" strike="noStrike">
                          <a:solidFill>
                            <a:schemeClr val="dk1"/>
                          </a:solidFill>
                          <a:latin typeface="Lato"/>
                          <a:ea typeface="Lato"/>
                          <a:cs typeface="Lato"/>
                          <a:sym typeface="Lato"/>
                        </a:rPr>
                        <a:t>Typical Range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50"/>
                        <a:buFont typeface="Calibri"/>
                        <a:buNone/>
                      </a:pPr>
                      <a:r>
                        <a:rPr lang="en" sz="700" u="none" cap="none" strike="noStrike">
                          <a:solidFill>
                            <a:schemeClr val="dk1"/>
                          </a:solidFill>
                          <a:latin typeface="Lato"/>
                          <a:ea typeface="Lato"/>
                          <a:cs typeface="Lato"/>
                          <a:sym typeface="Lato"/>
                        </a:rPr>
                        <a:t>LogistiCorp Scenario</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19450">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 of Invoice (On-Time</a:t>
                      </a:r>
                      <a:r>
                        <a:rPr lang="en" sz="700">
                          <a:solidFill>
                            <a:schemeClr val="dk1"/>
                          </a:solidFill>
                          <a:latin typeface="Lato"/>
                          <a:ea typeface="Lato"/>
                          <a:cs typeface="Lato"/>
                          <a:sym typeface="Lato"/>
                        </a:rPr>
                        <a:t> </a:t>
                      </a:r>
                      <a:r>
                        <a:rPr lang="en" sz="700" u="none" cap="none" strike="noStrike">
                          <a:solidFill>
                            <a:schemeClr val="dk1"/>
                          </a:solidFill>
                          <a:latin typeface="Lato"/>
                          <a:ea typeface="Lato"/>
                          <a:cs typeface="Lato"/>
                          <a:sym typeface="Lato"/>
                        </a:rPr>
                        <a:t>In-Full)</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Applied to total </a:t>
                      </a:r>
                      <a:r>
                        <a:rPr lang="en" sz="700">
                          <a:solidFill>
                            <a:schemeClr val="dk1"/>
                          </a:solidFill>
                          <a:latin typeface="Lato"/>
                          <a:ea typeface="Lato"/>
                          <a:cs typeface="Lato"/>
                          <a:sym typeface="Lato"/>
                        </a:rPr>
                        <a:t>Purchase Order</a:t>
                      </a:r>
                      <a:r>
                        <a:rPr lang="en" sz="700" u="none" cap="none" strike="noStrike">
                          <a:solidFill>
                            <a:schemeClr val="dk1"/>
                          </a:solidFill>
                          <a:latin typeface="Lato"/>
                          <a:ea typeface="Lato"/>
                          <a:cs typeface="Lato"/>
                          <a:sym typeface="Lato"/>
                        </a:rPr>
                        <a:t> value at time of Service Level Agreement breach</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1–5% (Walmart: 3%)</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$500K × 3% = $15,000/incident</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19450">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Per-Day Rolling</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1–2%/day, compounding; capped ~10% of shipment value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1–2%/day</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555555"/>
                        </a:buClr>
                        <a:buSzPts val="850"/>
                        <a:buFont typeface="Calibri"/>
                        <a:buNone/>
                      </a:pPr>
                      <a:r>
                        <a:rPr lang="en" sz="700" u="none" cap="none" strike="noStrike">
                          <a:solidFill>
                            <a:schemeClr val="dk1"/>
                          </a:solidFill>
                          <a:latin typeface="Lato"/>
                          <a:ea typeface="Lato"/>
                          <a:cs typeface="Lato"/>
                          <a:sym typeface="Lato"/>
                        </a:rPr>
                        <a:t>N/A (OTIF % structure assumed)</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19450">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Flat-Rate Admin Fee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Dock no-show, missed ASN, scheduling failure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$50–$5,000/instance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50"/>
                        <a:buFont typeface="Calibri"/>
                        <a:buNone/>
                      </a:pPr>
                      <a:r>
                        <a:rPr lang="en" sz="700" u="none" cap="none" strike="noStrike">
                          <a:solidFill>
                            <a:schemeClr val="dk1"/>
                          </a:solidFill>
                          <a:latin typeface="Lato"/>
                          <a:ea typeface="Lato"/>
                          <a:cs typeface="Lato"/>
                          <a:sym typeface="Lato"/>
                        </a:rPr>
                        <a:t>Not modeled (minor vs. $15K)</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09" name="Google Shape;409;p50"/>
          <p:cNvSpPr/>
          <p:nvPr/>
        </p:nvSpPr>
        <p:spPr>
          <a:xfrm>
            <a:off x="365760" y="1844401"/>
            <a:ext cx="8412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900"/>
              <a:buFont typeface="Calibri"/>
              <a:buNone/>
            </a:pPr>
            <a:r>
              <a:rPr i="0" lang="en" sz="900" u="none" cap="none" strike="noStrike">
                <a:solidFill>
                  <a:srgbClr val="111111"/>
                </a:solidFill>
                <a:latin typeface="Lato"/>
                <a:ea typeface="Lato"/>
                <a:cs typeface="Lato"/>
                <a:sym typeface="Lato"/>
              </a:rPr>
              <a:t>2. Late Truck Fate (</a:t>
            </a:r>
            <a:r>
              <a:rPr lang="en" sz="900">
                <a:solidFill>
                  <a:srgbClr val="111111"/>
                </a:solidFill>
                <a:latin typeface="Lato"/>
                <a:ea typeface="Lato"/>
                <a:cs typeface="Lato"/>
                <a:sym typeface="Lato"/>
              </a:rPr>
              <a:t>I</a:t>
            </a:r>
            <a:r>
              <a:rPr i="0" lang="en" sz="900" u="none" cap="none" strike="noStrike">
                <a:solidFill>
                  <a:srgbClr val="111111"/>
                </a:solidFill>
                <a:latin typeface="Lato"/>
                <a:ea typeface="Lato"/>
                <a:cs typeface="Lato"/>
                <a:sym typeface="Lato"/>
              </a:rPr>
              <a:t>ndustry consensus)</a:t>
            </a:r>
            <a:endParaRPr i="0" sz="900" u="none" cap="none" strike="noStrike">
              <a:solidFill>
                <a:schemeClr val="dk1"/>
              </a:solidFill>
              <a:latin typeface="Lato"/>
              <a:ea typeface="Lato"/>
              <a:cs typeface="Lato"/>
              <a:sym typeface="Lato"/>
            </a:endParaRPr>
          </a:p>
        </p:txBody>
      </p:sp>
      <p:graphicFrame>
        <p:nvGraphicFramePr>
          <p:cNvPr id="410" name="Google Shape;410;p50"/>
          <p:cNvGraphicFramePr/>
          <p:nvPr/>
        </p:nvGraphicFramePr>
        <p:xfrm>
          <a:off x="365760" y="2014158"/>
          <a:ext cx="3000000" cy="3000000"/>
        </p:xfrm>
        <a:graphic>
          <a:graphicData uri="http://schemas.openxmlformats.org/drawingml/2006/table">
            <a:tbl>
              <a:tblPr>
                <a:noFill/>
                <a:tableStyleId>{9EAB60A1-F282-4133-BFD4-AC10505FC9C3}</a:tableStyleId>
              </a:tblPr>
              <a:tblGrid>
                <a:gridCol w="1477700"/>
                <a:gridCol w="870050"/>
                <a:gridCol w="4566250"/>
                <a:gridCol w="1498475"/>
              </a:tblGrid>
              <a:tr h="77050">
                <a:tc>
                  <a:txBody>
                    <a:bodyPr/>
                    <a:lstStyle/>
                    <a:p>
                      <a:pPr indent="0" lvl="0" marL="0" marR="0" rtl="0" algn="l">
                        <a:spcBef>
                          <a:spcPts val="0"/>
                        </a:spcBef>
                        <a:spcAft>
                          <a:spcPts val="0"/>
                        </a:spcAft>
                        <a:buClr>
                          <a:srgbClr val="FFFFFF"/>
                        </a:buClr>
                        <a:buSzPts val="800"/>
                        <a:buFont typeface="Calibri"/>
                        <a:buNone/>
                      </a:pPr>
                      <a:r>
                        <a:rPr lang="en" sz="700" u="none" cap="none" strike="noStrike">
                          <a:solidFill>
                            <a:schemeClr val="dk1"/>
                          </a:solidFill>
                          <a:latin typeface="Lato"/>
                          <a:ea typeface="Lato"/>
                          <a:cs typeface="Lato"/>
                          <a:sym typeface="Lato"/>
                        </a:rPr>
                        <a:t>Scenario</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00"/>
                        <a:buFont typeface="Calibri"/>
                        <a:buNone/>
                      </a:pPr>
                      <a:r>
                        <a:rPr lang="en" sz="700" u="none" cap="none" strike="noStrike">
                          <a:solidFill>
                            <a:schemeClr val="dk1"/>
                          </a:solidFill>
                          <a:latin typeface="Lato"/>
                          <a:ea typeface="Lato"/>
                          <a:cs typeface="Lato"/>
                          <a:sym typeface="Lato"/>
                        </a:rPr>
                        <a:t>Freq.</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00"/>
                        <a:buFont typeface="Calibri"/>
                        <a:buNone/>
                      </a:pPr>
                      <a:r>
                        <a:rPr lang="en" sz="700" u="none" cap="none" strike="noStrike">
                          <a:solidFill>
                            <a:schemeClr val="dk1"/>
                          </a:solidFill>
                          <a:latin typeface="Lato"/>
                          <a:ea typeface="Lato"/>
                          <a:cs typeface="Lato"/>
                          <a:sym typeface="Lato"/>
                        </a:rPr>
                        <a:t>What Happens</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00"/>
                        <a:buFont typeface="Calibri"/>
                        <a:buNone/>
                      </a:pPr>
                      <a:r>
                        <a:rPr lang="en" sz="700" u="none" cap="none" strike="noStrike">
                          <a:solidFill>
                            <a:schemeClr val="dk1"/>
                          </a:solidFill>
                          <a:latin typeface="Lato"/>
                          <a:ea typeface="Lato"/>
                          <a:cs typeface="Lato"/>
                          <a:sym typeface="Lato"/>
                        </a:rPr>
                        <a:t>Penalty?</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15600">
                <a:tc>
                  <a:txBody>
                    <a:bodyPr/>
                    <a:lstStyle/>
                    <a:p>
                      <a:pPr indent="0" lvl="0" marL="0" marR="0" rtl="0" algn="l">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Work-In (wait for open dock)</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75–85%</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Driver waits 4–12h unpaid; detention fee uncollectable (SLA breach); ATRI avg $99.54/hr operating cost</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Yes — at missed appt. time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96325">
                <a:tc>
                  <a:txBody>
                    <a:bodyPr/>
                    <a:lstStyle/>
                    <a:p>
                      <a:pPr indent="0" lvl="0" marL="0" marR="0" rtl="0" algn="l">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Gate Rejection (reschedule)</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15–25%</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Next available slot (may be Monday if Friday)</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00"/>
                        <a:buFont typeface="Calibri"/>
                        <a:buNone/>
                      </a:pPr>
                      <a:r>
                        <a:rPr lang="en" sz="700" u="none" cap="none" strike="noStrike">
                          <a:solidFill>
                            <a:schemeClr val="dk1"/>
                          </a:solidFill>
                          <a:latin typeface="Lato"/>
                          <a:ea typeface="Lato"/>
                          <a:cs typeface="Lato"/>
                          <a:sym typeface="Lato"/>
                        </a:rPr>
                        <a:t>Yes + re-delivery cost</a:t>
                      </a:r>
                      <a:endParaRPr sz="7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11" name="Google Shape;411;p50"/>
          <p:cNvSpPr/>
          <p:nvPr/>
        </p:nvSpPr>
        <p:spPr>
          <a:xfrm>
            <a:off x="365760" y="2727181"/>
            <a:ext cx="8412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900"/>
              <a:buFont typeface="Calibri"/>
              <a:buNone/>
            </a:pPr>
            <a:r>
              <a:rPr i="0" lang="en" sz="900" u="none" cap="none" strike="noStrike">
                <a:solidFill>
                  <a:srgbClr val="111111"/>
                </a:solidFill>
                <a:latin typeface="Lato"/>
                <a:ea typeface="Lato"/>
                <a:cs typeface="Lato"/>
                <a:sym typeface="Lato"/>
              </a:rPr>
              <a:t>3. Calculation Assumptions</a:t>
            </a:r>
            <a:endParaRPr i="0" sz="900" u="none" cap="none" strike="noStrike">
              <a:solidFill>
                <a:schemeClr val="dk1"/>
              </a:solidFill>
              <a:latin typeface="Lato"/>
              <a:ea typeface="Lato"/>
              <a:cs typeface="Lato"/>
              <a:sym typeface="Lato"/>
            </a:endParaRPr>
          </a:p>
        </p:txBody>
      </p:sp>
      <p:graphicFrame>
        <p:nvGraphicFramePr>
          <p:cNvPr id="412" name="Google Shape;412;p50"/>
          <p:cNvGraphicFramePr/>
          <p:nvPr/>
        </p:nvGraphicFramePr>
        <p:xfrm>
          <a:off x="365760" y="2904791"/>
          <a:ext cx="3000000" cy="3000000"/>
        </p:xfrm>
        <a:graphic>
          <a:graphicData uri="http://schemas.openxmlformats.org/drawingml/2006/table">
            <a:tbl>
              <a:tblPr>
                <a:noFill/>
                <a:tableStyleId>{9EAB60A1-F282-4133-BFD4-AC10505FC9C3}</a:tableStyleId>
              </a:tblPr>
              <a:tblGrid>
                <a:gridCol w="2286000"/>
                <a:gridCol w="1188725"/>
                <a:gridCol w="4937750"/>
              </a:tblGrid>
              <a:tr h="171900">
                <a:tc>
                  <a:txBody>
                    <a:bodyPr/>
                    <a:lstStyle/>
                    <a:p>
                      <a:pPr indent="0" lvl="0" marL="0" marR="0" rtl="0" algn="l">
                        <a:spcBef>
                          <a:spcPts val="0"/>
                        </a:spcBef>
                        <a:spcAft>
                          <a:spcPts val="0"/>
                        </a:spcAft>
                        <a:buClr>
                          <a:srgbClr val="FFFFFF"/>
                        </a:buClr>
                        <a:buSzPts val="780"/>
                        <a:buFont typeface="Calibri"/>
                        <a:buNone/>
                      </a:pPr>
                      <a:r>
                        <a:rPr lang="en" sz="800" u="none" cap="none" strike="noStrike">
                          <a:solidFill>
                            <a:schemeClr val="dk1"/>
                          </a:solidFill>
                          <a:latin typeface="Lato"/>
                          <a:ea typeface="Lato"/>
                          <a:cs typeface="Lato"/>
                          <a:sym typeface="Lato"/>
                        </a:rPr>
                        <a:t>Assumption</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780"/>
                        <a:buFont typeface="Calibri"/>
                        <a:buNone/>
                      </a:pPr>
                      <a:r>
                        <a:rPr lang="en" sz="800" u="none" cap="none" strike="noStrike">
                          <a:solidFill>
                            <a:schemeClr val="dk1"/>
                          </a:solidFill>
                          <a:latin typeface="Lato"/>
                          <a:ea typeface="Lato"/>
                          <a:cs typeface="Lato"/>
                          <a:sym typeface="Lato"/>
                        </a:rPr>
                        <a:t>Value</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780"/>
                        <a:buFont typeface="Calibri"/>
                        <a:buNone/>
                      </a:pPr>
                      <a:r>
                        <a:rPr lang="en" sz="800" u="none" cap="none" strike="noStrike">
                          <a:solidFill>
                            <a:schemeClr val="dk1"/>
                          </a:solidFill>
                          <a:latin typeface="Lato"/>
                          <a:ea typeface="Lato"/>
                          <a:cs typeface="Lato"/>
                          <a:sym typeface="Lato"/>
                        </a:rPr>
                        <a:t>Source / Status</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Cargo value / truck</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$500,000</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a:solidFill>
                            <a:schemeClr val="dk1"/>
                          </a:solidFill>
                          <a:latin typeface="Lato"/>
                          <a:ea typeface="Lato"/>
                          <a:cs typeface="Lato"/>
                          <a:sym typeface="Lato"/>
                        </a:rPr>
                        <a:t>Cargo insurance threshold</a:t>
                      </a:r>
                      <a:r>
                        <a:rPr lang="en" sz="800" u="none" cap="none" strike="noStrike">
                          <a:solidFill>
                            <a:schemeClr val="dk1"/>
                          </a:solidFill>
                          <a:latin typeface="Lato"/>
                          <a:ea typeface="Lato"/>
                          <a:cs typeface="Lato"/>
                          <a:sym typeface="Lato"/>
                        </a:rPr>
                        <a:t>; high-value electronics</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Penalty rate</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3% → $15K</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Walmart OTIF standard; industry benchmark</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Dock grace period</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0.5h</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Clr>
                          <a:srgbClr val="111111"/>
                        </a:buClr>
                        <a:buSzPts val="780"/>
                        <a:buFont typeface="Calibri"/>
                        <a:buNone/>
                      </a:pPr>
                      <a:r>
                        <a:rPr lang="en" sz="800">
                          <a:solidFill>
                            <a:schemeClr val="dk1"/>
                          </a:solidFill>
                          <a:latin typeface="Lato"/>
                          <a:ea typeface="Lato"/>
                          <a:cs typeface="Lato"/>
                          <a:sym typeface="Lato"/>
                        </a:rPr>
                        <a:t>Industry benchmark</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Max intervention effect</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a:solidFill>
                            <a:schemeClr val="dk1"/>
                          </a:solidFill>
                          <a:latin typeface="Lato"/>
                          <a:ea typeface="Lato"/>
                          <a:cs typeface="Lato"/>
                          <a:sym typeface="Lato"/>
                        </a:rPr>
                        <a:t>5</a:t>
                      </a:r>
                      <a:r>
                        <a:rPr lang="en" sz="800" u="none" cap="none" strike="noStrike">
                          <a:solidFill>
                            <a:schemeClr val="dk1"/>
                          </a:solidFill>
                          <a:latin typeface="Lato"/>
                          <a:ea typeface="Lato"/>
                          <a:cs typeface="Lato"/>
                          <a:sym typeface="Lato"/>
                        </a:rPr>
                        <a:t>.</a:t>
                      </a:r>
                      <a:r>
                        <a:rPr lang="en" sz="800">
                          <a:solidFill>
                            <a:schemeClr val="dk1"/>
                          </a:solidFill>
                          <a:latin typeface="Lato"/>
                          <a:ea typeface="Lato"/>
                          <a:cs typeface="Lato"/>
                          <a:sym typeface="Lato"/>
                        </a:rPr>
                        <a:t>5</a:t>
                      </a:r>
                      <a:r>
                        <a:rPr lang="en" sz="800" u="none" cap="none" strike="noStrike">
                          <a:solidFill>
                            <a:schemeClr val="dk1"/>
                          </a:solidFill>
                          <a:latin typeface="Lato"/>
                          <a:ea typeface="Lato"/>
                          <a:cs typeface="Lato"/>
                          <a:sym typeface="Lato"/>
                        </a:rPr>
                        <a:t>h</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990000"/>
                        </a:buClr>
                        <a:buSzPts val="780"/>
                        <a:buFont typeface="Calibri"/>
                        <a:buNone/>
                      </a:pPr>
                      <a:r>
                        <a:rPr lang="en" sz="800" u="none" cap="none" strike="noStrike">
                          <a:solidFill>
                            <a:schemeClr val="dk1"/>
                          </a:solidFill>
                          <a:latin typeface="Lato"/>
                          <a:ea typeface="Lato"/>
                          <a:cs typeface="Lato"/>
                          <a:sym typeface="Lato"/>
                        </a:rPr>
                        <a:t>Correlation-based IQR upper bound; NOT causal</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OTIF customer rate</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80%</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Electronics 3PL norm (Walmart/Target/Best Buy)</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Intervention success</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50% (base)</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To be validated via 3-month pilot A/B test</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Consulting &amp; model ops</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$400K/yr</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Fixed annual; system maintenance + analyst support</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71900">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Intervention cost</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$1,000/ship</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780"/>
                        <a:buFont typeface="Calibri"/>
                        <a:buNone/>
                      </a:pPr>
                      <a:r>
                        <a:rPr lang="en" sz="800" u="none" cap="none" strike="noStrike">
                          <a:solidFill>
                            <a:schemeClr val="dk1"/>
                          </a:solidFill>
                          <a:latin typeface="Lato"/>
                          <a:ea typeface="Lato"/>
                          <a:cs typeface="Lato"/>
                          <a:sym typeface="Lato"/>
                        </a:rPr>
                        <a:t>Extra loading/handling per flagged shipment (</a:t>
                      </a:r>
                      <a:r>
                        <a:rPr lang="en" sz="800">
                          <a:solidFill>
                            <a:schemeClr val="dk1"/>
                          </a:solidFill>
                          <a:latin typeface="Lato"/>
                          <a:ea typeface="Lato"/>
                          <a:cs typeface="Lato"/>
                          <a:sym typeface="Lato"/>
                        </a:rPr>
                        <a:t>2</a:t>
                      </a:r>
                      <a:r>
                        <a:rPr lang="en" sz="800" u="none" cap="none" strike="noStrike">
                          <a:solidFill>
                            <a:schemeClr val="dk1"/>
                          </a:solidFill>
                          <a:latin typeface="Lato"/>
                          <a:ea typeface="Lato"/>
                          <a:cs typeface="Lato"/>
                          <a:sym typeface="Lato"/>
                        </a:rPr>
                        <a:t>,</a:t>
                      </a:r>
                      <a:r>
                        <a:rPr lang="en" sz="800">
                          <a:solidFill>
                            <a:schemeClr val="dk1"/>
                          </a:solidFill>
                          <a:latin typeface="Lato"/>
                          <a:ea typeface="Lato"/>
                          <a:cs typeface="Lato"/>
                          <a:sym typeface="Lato"/>
                        </a:rPr>
                        <a:t>200</a:t>
                      </a:r>
                      <a:r>
                        <a:rPr lang="en" sz="800" u="none" cap="none" strike="noStrike">
                          <a:solidFill>
                            <a:schemeClr val="dk1"/>
                          </a:solidFill>
                          <a:latin typeface="Lato"/>
                          <a:ea typeface="Lato"/>
                          <a:cs typeface="Lato"/>
                          <a:sym typeface="Lato"/>
                        </a:rPr>
                        <a:t> attempts/yr)</a:t>
                      </a:r>
                      <a:endParaRPr sz="800" u="none" cap="none" strike="noStrike">
                        <a:solidFill>
                          <a:schemeClr val="dk1"/>
                        </a:solidFill>
                        <a:latin typeface="Lato"/>
                        <a:ea typeface="Lato"/>
                        <a:cs typeface="Lato"/>
                        <a:sym typeface="Lato"/>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13" name="Google Shape;413;p50"/>
          <p:cNvSpPr/>
          <p:nvPr/>
        </p:nvSpPr>
        <p:spPr>
          <a:xfrm>
            <a:off x="365760" y="4793934"/>
            <a:ext cx="8412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750"/>
              <a:buFont typeface="Calibri"/>
              <a:buNone/>
            </a:pPr>
            <a:r>
              <a:rPr i="1" lang="en" sz="700" u="none" cap="none" strike="noStrike">
                <a:solidFill>
                  <a:schemeClr val="dk1"/>
                </a:solidFill>
                <a:latin typeface="Lato"/>
                <a:ea typeface="Lato"/>
                <a:cs typeface="Lato"/>
                <a:sym typeface="Lato"/>
              </a:rPr>
              <a:t>ATRI 2024 Detention Report · Walmart OTIF Program</a:t>
            </a:r>
            <a:endParaRPr i="0" sz="700" u="none" cap="none" strike="noStrike">
              <a:solidFill>
                <a:schemeClr val="dk1"/>
              </a:solidFill>
              <a:latin typeface="Lato"/>
              <a:ea typeface="Lato"/>
              <a:cs typeface="Lato"/>
              <a:sym typeface="Lato"/>
            </a:endParaRPr>
          </a:p>
        </p:txBody>
      </p:sp>
      <p:sp>
        <p:nvSpPr>
          <p:cNvPr id="414" name="Google Shape;414;p50"/>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solidFill>
                  <a:srgbClr val="1C2026"/>
                </a:solidFill>
                <a:latin typeface="Lato"/>
                <a:ea typeface="Lato"/>
                <a:cs typeface="Lato"/>
                <a:sym typeface="Lato"/>
              </a:rPr>
              <a:t>‹#›</a:t>
            </a:fld>
            <a:endParaRPr sz="800">
              <a:solidFill>
                <a:srgbClr val="1C2026"/>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51"/>
          <p:cNvSpPr/>
          <p:nvPr/>
        </p:nvSpPr>
        <p:spPr>
          <a:xfrm>
            <a:off x="365760" y="164592"/>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2000"/>
              <a:buFont typeface="Calibri"/>
              <a:buNone/>
            </a:pPr>
            <a:r>
              <a:rPr i="0" lang="en" sz="2000" u="none" cap="none" strike="noStrike">
                <a:solidFill>
                  <a:srgbClr val="111111"/>
                </a:solidFill>
                <a:latin typeface="Playfair Display"/>
                <a:ea typeface="Playfair Display"/>
                <a:cs typeface="Playfair Display"/>
                <a:sym typeface="Playfair Display"/>
              </a:rPr>
              <a:t>Appendix B  Financial Impact Calculation Walk-Through (Base Case)</a:t>
            </a:r>
            <a:endParaRPr i="0" sz="2000" u="none" cap="none" strike="noStrike">
              <a:solidFill>
                <a:schemeClr val="dk1"/>
              </a:solidFill>
              <a:latin typeface="Playfair Display"/>
              <a:ea typeface="Playfair Display"/>
              <a:cs typeface="Playfair Display"/>
              <a:sym typeface="Playfair Display"/>
            </a:endParaRPr>
          </a:p>
        </p:txBody>
      </p:sp>
      <p:cxnSp>
        <p:nvCxnSpPr>
          <p:cNvPr id="421" name="Google Shape;421;p51"/>
          <p:cNvCxnSpPr/>
          <p:nvPr/>
        </p:nvCxnSpPr>
        <p:spPr>
          <a:xfrm>
            <a:off x="365760" y="658368"/>
            <a:ext cx="8412600" cy="0"/>
          </a:xfrm>
          <a:prstGeom prst="straightConnector1">
            <a:avLst/>
          </a:prstGeom>
          <a:noFill/>
          <a:ln cap="flat" cmpd="sng" w="9525">
            <a:solidFill>
              <a:srgbClr val="999999"/>
            </a:solidFill>
            <a:prstDash val="solid"/>
            <a:round/>
            <a:headEnd len="sm" w="sm" type="none"/>
            <a:tailEnd len="sm" w="sm" type="none"/>
          </a:ln>
        </p:spPr>
      </p:cxnSp>
      <p:graphicFrame>
        <p:nvGraphicFramePr>
          <p:cNvPr id="422" name="Google Shape;422;p51"/>
          <p:cNvGraphicFramePr/>
          <p:nvPr/>
        </p:nvGraphicFramePr>
        <p:xfrm>
          <a:off x="365760" y="749808"/>
          <a:ext cx="3000000" cy="3000000"/>
        </p:xfrm>
        <a:graphic>
          <a:graphicData uri="http://schemas.openxmlformats.org/drawingml/2006/table">
            <a:tbl>
              <a:tblPr>
                <a:noFill/>
                <a:tableStyleId>{9EAB60A1-F282-4133-BFD4-AC10505FC9C3}</a:tableStyleId>
              </a:tblPr>
              <a:tblGrid>
                <a:gridCol w="457200"/>
                <a:gridCol w="2286000"/>
                <a:gridCol w="4114800"/>
                <a:gridCol w="1554475"/>
              </a:tblGrid>
              <a:tr h="301625">
                <a:tc>
                  <a:txBody>
                    <a:bodyPr/>
                    <a:lstStyle/>
                    <a:p>
                      <a:pPr indent="0" lvl="0" marL="0" marR="0" rtl="0" algn="ctr">
                        <a:spcBef>
                          <a:spcPts val="0"/>
                        </a:spcBef>
                        <a:spcAft>
                          <a:spcPts val="0"/>
                        </a:spcAft>
                        <a:buClr>
                          <a:srgbClr val="FFFFFF"/>
                        </a:buClr>
                        <a:buSzPts val="880"/>
                        <a:buFont typeface="Calibri"/>
                        <a:buNone/>
                      </a:pPr>
                      <a:r>
                        <a:rPr lang="en" sz="980" u="none" cap="none" strike="noStrike">
                          <a:solidFill>
                            <a:schemeClr val="dk1"/>
                          </a:solidFill>
                          <a:latin typeface="Lato"/>
                          <a:ea typeface="Lato"/>
                          <a:cs typeface="Lato"/>
                          <a:sym typeface="Lato"/>
                        </a:rPr>
                        <a:t>Step</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80"/>
                        <a:buFont typeface="Calibri"/>
                        <a:buNone/>
                      </a:pPr>
                      <a:r>
                        <a:rPr lang="en" sz="980" u="none" cap="none" strike="noStrike">
                          <a:solidFill>
                            <a:schemeClr val="dk1"/>
                          </a:solidFill>
                          <a:latin typeface="Lato"/>
                          <a:ea typeface="Lato"/>
                          <a:cs typeface="Lato"/>
                          <a:sym typeface="Lato"/>
                        </a:rPr>
                        <a:t>Item</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880"/>
                        <a:buFont typeface="Calibri"/>
                        <a:buNone/>
                      </a:pPr>
                      <a:r>
                        <a:rPr lang="en" sz="980" u="none" cap="none" strike="noStrike">
                          <a:solidFill>
                            <a:schemeClr val="dk1"/>
                          </a:solidFill>
                          <a:latin typeface="Lato"/>
                          <a:ea typeface="Lato"/>
                          <a:cs typeface="Lato"/>
                          <a:sym typeface="Lato"/>
                        </a:rPr>
                        <a:t>Calculation</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880"/>
                        <a:buFont typeface="Calibri"/>
                        <a:buNone/>
                      </a:pPr>
                      <a:r>
                        <a:rPr lang="en" sz="980" u="none" cap="none" strike="noStrike">
                          <a:solidFill>
                            <a:schemeClr val="dk1"/>
                          </a:solidFill>
                          <a:latin typeface="Lato"/>
                          <a:ea typeface="Lato"/>
                          <a:cs typeface="Lato"/>
                          <a:sym typeface="Lato"/>
                        </a:rPr>
                        <a:t>Result</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1</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Annual shipment volume</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32,060 records ÷ 3.67 years</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8,736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2</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Max intervention (4 features × −1 IQR)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driver −</a:t>
                      </a:r>
                      <a:r>
                        <a:rPr lang="en" sz="980">
                          <a:solidFill>
                            <a:schemeClr val="dk1"/>
                          </a:solidFill>
                          <a:latin typeface="Lato"/>
                          <a:ea typeface="Lato"/>
                          <a:cs typeface="Lato"/>
                          <a:sym typeface="Lato"/>
                        </a:rPr>
                        <a:t>2</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35</a:t>
                      </a:r>
                      <a:r>
                        <a:rPr lang="en" sz="980" u="none" cap="none" strike="noStrike">
                          <a:solidFill>
                            <a:schemeClr val="dk1"/>
                          </a:solidFill>
                          <a:latin typeface="Lato"/>
                          <a:ea typeface="Lato"/>
                          <a:cs typeface="Lato"/>
                          <a:sym typeface="Lato"/>
                        </a:rPr>
                        <a:t>h </a:t>
                      </a:r>
                      <a:r>
                        <a:rPr lang="en" sz="980">
                          <a:solidFill>
                            <a:schemeClr val="dk1"/>
                          </a:solidFill>
                          <a:latin typeface="Lato"/>
                          <a:ea typeface="Lato"/>
                          <a:cs typeface="Lato"/>
                          <a:sym typeface="Lato"/>
                        </a:rPr>
                        <a:t>+ equipment −1.45h </a:t>
                      </a:r>
                      <a:r>
                        <a:rPr lang="en" sz="980" u="none" cap="none" strike="noStrike">
                          <a:solidFill>
                            <a:schemeClr val="dk1"/>
                          </a:solidFill>
                          <a:latin typeface="Lato"/>
                          <a:ea typeface="Lato"/>
                          <a:cs typeface="Lato"/>
                          <a:sym typeface="Lato"/>
                        </a:rPr>
                        <a:t>+ </a:t>
                      </a:r>
                      <a:r>
                        <a:rPr lang="en" sz="980">
                          <a:solidFill>
                            <a:schemeClr val="dk1"/>
                          </a:solidFill>
                          <a:latin typeface="Lato"/>
                          <a:ea typeface="Lato"/>
                          <a:cs typeface="Lato"/>
                          <a:sym typeface="Lato"/>
                        </a:rPr>
                        <a:t>route_risk −1.15h +</a:t>
                      </a:r>
                      <a:r>
                        <a:rPr lang="en" sz="980" u="none" cap="none" strike="noStrike">
                          <a:solidFill>
                            <a:schemeClr val="dk1"/>
                          </a:solidFill>
                          <a:latin typeface="Lato"/>
                          <a:ea typeface="Lato"/>
                          <a:cs typeface="Lato"/>
                          <a:sym typeface="Lato"/>
                        </a:rPr>
                        <a:t> loading −0.</a:t>
                      </a:r>
                      <a:r>
                        <a:rPr lang="en" sz="980">
                          <a:solidFill>
                            <a:schemeClr val="dk1"/>
                          </a:solidFill>
                          <a:latin typeface="Lato"/>
                          <a:ea typeface="Lato"/>
                          <a:cs typeface="Lato"/>
                          <a:sym typeface="Lato"/>
                        </a:rPr>
                        <a:t>53</a:t>
                      </a:r>
                      <a:r>
                        <a:rPr lang="en" sz="980" u="none" cap="none" strike="noStrike">
                          <a:solidFill>
                            <a:schemeClr val="dk1"/>
                          </a:solidFill>
                          <a:latin typeface="Lato"/>
                          <a:ea typeface="Lato"/>
                          <a:cs typeface="Lato"/>
                          <a:sym typeface="Lato"/>
                        </a:rPr>
                        <a:t>h</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5</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5</a:t>
                      </a:r>
                      <a:r>
                        <a:rPr lang="en" sz="980" u="none" cap="none" strike="noStrike">
                          <a:solidFill>
                            <a:schemeClr val="dk1"/>
                          </a:solidFill>
                          <a:latin typeface="Lato"/>
                          <a:ea typeface="Lato"/>
                          <a:cs typeface="Lato"/>
                          <a:sym typeface="Lato"/>
                        </a:rPr>
                        <a:t>h</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3</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Sweet spot window</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dock threshold 0.5h  →  upper bound 0.5h + </a:t>
                      </a:r>
                      <a:r>
                        <a:rPr lang="en" sz="980">
                          <a:solidFill>
                            <a:schemeClr val="dk1"/>
                          </a:solidFill>
                          <a:latin typeface="Lato"/>
                          <a:ea typeface="Lato"/>
                          <a:cs typeface="Lato"/>
                          <a:sym typeface="Lato"/>
                        </a:rPr>
                        <a:t>5</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5</a:t>
                      </a:r>
                      <a:r>
                        <a:rPr lang="en" sz="980" u="none" cap="none" strike="noStrike">
                          <a:solidFill>
                            <a:schemeClr val="dk1"/>
                          </a:solidFill>
                          <a:latin typeface="Lato"/>
                          <a:ea typeface="Lato"/>
                          <a:cs typeface="Lato"/>
                          <a:sym typeface="Lato"/>
                        </a:rPr>
                        <a:t>h</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0.5h – </a:t>
                      </a:r>
                      <a:r>
                        <a:rPr lang="en" sz="980">
                          <a:solidFill>
                            <a:schemeClr val="dk1"/>
                          </a:solidFill>
                          <a:latin typeface="Lato"/>
                          <a:ea typeface="Lato"/>
                          <a:cs typeface="Lato"/>
                          <a:sym typeface="Lato"/>
                        </a:rPr>
                        <a:t>6</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0</a:t>
                      </a:r>
                      <a:r>
                        <a:rPr lang="en" sz="980" u="none" cap="none" strike="noStrike">
                          <a:solidFill>
                            <a:schemeClr val="dk1"/>
                          </a:solidFill>
                          <a:latin typeface="Lato"/>
                          <a:ea typeface="Lato"/>
                          <a:cs typeface="Lato"/>
                          <a:sym typeface="Lato"/>
                        </a:rPr>
                        <a:t>h</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4</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Sweet spot shipments /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10,091</a:t>
                      </a:r>
                      <a:r>
                        <a:rPr lang="en" sz="980" u="none" cap="none" strike="noStrike">
                          <a:solidFill>
                            <a:schemeClr val="dk1"/>
                          </a:solidFill>
                          <a:latin typeface="Lato"/>
                          <a:ea typeface="Lato"/>
                          <a:cs typeface="Lato"/>
                          <a:sym typeface="Lato"/>
                        </a:rPr>
                        <a:t> records in window ÷ 3.67yr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2,</a:t>
                      </a:r>
                      <a:r>
                        <a:rPr lang="en" sz="980">
                          <a:solidFill>
                            <a:schemeClr val="dk1"/>
                          </a:solidFill>
                          <a:latin typeface="Lato"/>
                          <a:ea typeface="Lato"/>
                          <a:cs typeface="Lato"/>
                          <a:sym typeface="Lato"/>
                        </a:rPr>
                        <a:t>75</a:t>
                      </a:r>
                      <a:r>
                        <a:rPr lang="en" sz="980" u="none" cap="none" strike="noStrike">
                          <a:solidFill>
                            <a:schemeClr val="dk1"/>
                          </a:solidFill>
                          <a:latin typeface="Lato"/>
                          <a:ea typeface="Lato"/>
                          <a:cs typeface="Lato"/>
                          <a:sym typeface="Lato"/>
                        </a:rPr>
                        <a:t>0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5</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Penalty-at-risk (OTIF cascade)</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2,</a:t>
                      </a:r>
                      <a:r>
                        <a:rPr lang="en" sz="980">
                          <a:solidFill>
                            <a:schemeClr val="dk1"/>
                          </a:solidFill>
                          <a:latin typeface="Lato"/>
                          <a:ea typeface="Lato"/>
                          <a:cs typeface="Lato"/>
                          <a:sym typeface="Lato"/>
                        </a:rPr>
                        <a:t>75</a:t>
                      </a:r>
                      <a:r>
                        <a:rPr lang="en" sz="980" u="none" cap="none" strike="noStrike">
                          <a:solidFill>
                            <a:schemeClr val="dk1"/>
                          </a:solidFill>
                          <a:latin typeface="Lato"/>
                          <a:ea typeface="Lato"/>
                          <a:cs typeface="Lato"/>
                          <a:sym typeface="Lato"/>
                        </a:rPr>
                        <a:t>0 × OTIF customer rate 80%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2</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200</a:t>
                      </a:r>
                      <a:r>
                        <a:rPr lang="en" sz="980" u="none" cap="none" strike="noStrike">
                          <a:solidFill>
                            <a:schemeClr val="dk1"/>
                          </a:solidFill>
                          <a:latin typeface="Lato"/>
                          <a:ea typeface="Lato"/>
                          <a:cs typeface="Lato"/>
                          <a:sym typeface="Lato"/>
                        </a:rPr>
                        <a:t>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6</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Ships saved (base case)</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2,200</a:t>
                      </a:r>
                      <a:r>
                        <a:rPr lang="en" sz="980" u="none" cap="none" strike="noStrike">
                          <a:solidFill>
                            <a:schemeClr val="dk1"/>
                          </a:solidFill>
                          <a:latin typeface="Lato"/>
                          <a:ea typeface="Lato"/>
                          <a:cs typeface="Lato"/>
                          <a:sym typeface="Lato"/>
                        </a:rPr>
                        <a:t> × intervention success rate 50%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1,100</a:t>
                      </a:r>
                      <a:r>
                        <a:rPr lang="en" sz="980" u="none" cap="none" strike="noStrike">
                          <a:solidFill>
                            <a:schemeClr val="dk1"/>
                          </a:solidFill>
                          <a:latin typeface="Lato"/>
                          <a:ea typeface="Lato"/>
                          <a:cs typeface="Lato"/>
                          <a:sym typeface="Lato"/>
                        </a:rPr>
                        <a:t>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7</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Gross savings</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1,100</a:t>
                      </a:r>
                      <a:r>
                        <a:rPr lang="en" sz="980" u="none" cap="none" strike="noStrike">
                          <a:solidFill>
                            <a:schemeClr val="dk1"/>
                          </a:solidFill>
                          <a:latin typeface="Lato"/>
                          <a:ea typeface="Lato"/>
                          <a:cs typeface="Lato"/>
                          <a:sym typeface="Lato"/>
                        </a:rPr>
                        <a:t> ships × $15,000 penalty avoided</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$1</a:t>
                      </a:r>
                      <a:r>
                        <a:rPr lang="en" sz="980">
                          <a:solidFill>
                            <a:schemeClr val="dk1"/>
                          </a:solidFill>
                          <a:latin typeface="Lato"/>
                          <a:ea typeface="Lato"/>
                          <a:cs typeface="Lato"/>
                          <a:sym typeface="Lato"/>
                        </a:rPr>
                        <a:t>6</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500</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000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8a</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Less: Consulting &amp; model ops</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Fixed annual cost</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990000"/>
                        </a:buClr>
                        <a:buSzPts val="880"/>
                        <a:buFont typeface="Calibri"/>
                        <a:buNone/>
                      </a:pPr>
                      <a:r>
                        <a:rPr lang="en" sz="980" u="none" cap="none" strike="noStrike">
                          <a:solidFill>
                            <a:schemeClr val="dk1"/>
                          </a:solidFill>
                          <a:latin typeface="Lato"/>
                          <a:ea typeface="Lato"/>
                          <a:cs typeface="Lato"/>
                          <a:sym typeface="Lato"/>
                        </a:rPr>
                        <a:t>−$400,000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8b</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Less: Intervention cost</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a:solidFill>
                            <a:schemeClr val="dk1"/>
                          </a:solidFill>
                          <a:latin typeface="Lato"/>
                          <a:ea typeface="Lato"/>
                          <a:cs typeface="Lato"/>
                          <a:sym typeface="Lato"/>
                        </a:rPr>
                        <a:t>2,200</a:t>
                      </a:r>
                      <a:r>
                        <a:rPr lang="en" sz="980" u="none" cap="none" strike="noStrike">
                          <a:solidFill>
                            <a:schemeClr val="dk1"/>
                          </a:solidFill>
                          <a:latin typeface="Lato"/>
                          <a:ea typeface="Lato"/>
                          <a:cs typeface="Lato"/>
                          <a:sym typeface="Lato"/>
                        </a:rPr>
                        <a:t> attempts × $1,000/ship</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rgbClr val="990000"/>
                        </a:buClr>
                        <a:buSzPts val="880"/>
                        <a:buFont typeface="Calibri"/>
                        <a:buNone/>
                      </a:pP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2</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200</a:t>
                      </a:r>
                      <a:r>
                        <a:rPr lang="en" sz="980" u="none" cap="none" strike="noStrike">
                          <a:solidFill>
                            <a:schemeClr val="dk1"/>
                          </a:solidFill>
                          <a:latin typeface="Lato"/>
                          <a:ea typeface="Lato"/>
                          <a:cs typeface="Lato"/>
                          <a:sym typeface="Lato"/>
                        </a:rPr>
                        <a:t>,000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tcPr>
                </a:tc>
              </a:tr>
              <a:tr h="301625">
                <a:tc>
                  <a:txBody>
                    <a:bodyPr/>
                    <a:lstStyle/>
                    <a:p>
                      <a:pPr indent="0" lvl="0" marL="0" marR="0" rtl="0" algn="ctr">
                        <a:spcBef>
                          <a:spcPts val="0"/>
                        </a:spcBef>
                        <a:spcAft>
                          <a:spcPts val="0"/>
                        </a:spcAft>
                        <a:buClr>
                          <a:srgbClr val="111111"/>
                        </a:buClr>
                        <a:buSzPts val="880"/>
                        <a:buFont typeface="Calibri"/>
                        <a:buNone/>
                      </a:pPr>
                      <a:r>
                        <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NET ANNUAL SAVINGS (Base Case)</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$1</a:t>
                      </a:r>
                      <a:r>
                        <a:rPr lang="en" sz="980">
                          <a:solidFill>
                            <a:schemeClr val="dk1"/>
                          </a:solidFill>
                          <a:latin typeface="Lato"/>
                          <a:ea typeface="Lato"/>
                          <a:cs typeface="Lato"/>
                          <a:sym typeface="Lato"/>
                        </a:rPr>
                        <a:t>6</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500</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000</a:t>
                      </a:r>
                      <a:r>
                        <a:rPr lang="en" sz="980" u="none" cap="none" strike="noStrike">
                          <a:solidFill>
                            <a:schemeClr val="dk1"/>
                          </a:solidFill>
                          <a:latin typeface="Lato"/>
                          <a:ea typeface="Lato"/>
                          <a:cs typeface="Lato"/>
                          <a:sym typeface="Lato"/>
                        </a:rPr>
                        <a:t> − $400,000 − $</a:t>
                      </a:r>
                      <a:r>
                        <a:rPr lang="en" sz="980">
                          <a:solidFill>
                            <a:schemeClr val="dk1"/>
                          </a:solidFill>
                          <a:latin typeface="Lato"/>
                          <a:ea typeface="Lato"/>
                          <a:cs typeface="Lato"/>
                          <a:sym typeface="Lato"/>
                        </a:rPr>
                        <a:t>2</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200</a:t>
                      </a:r>
                      <a:r>
                        <a:rPr lang="en" sz="980" u="none" cap="none" strike="noStrike">
                          <a:solidFill>
                            <a:schemeClr val="dk1"/>
                          </a:solidFill>
                          <a:latin typeface="Lato"/>
                          <a:ea typeface="Lato"/>
                          <a:cs typeface="Lato"/>
                          <a:sym typeface="Lato"/>
                        </a:rPr>
                        <a:t>,000</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rgbClr val="111111"/>
                        </a:buClr>
                        <a:buSzPts val="880"/>
                        <a:buFont typeface="Calibri"/>
                        <a:buNone/>
                      </a:pPr>
                      <a:r>
                        <a:rPr lang="en" sz="980" u="none" cap="none" strike="noStrike">
                          <a:solidFill>
                            <a:schemeClr val="dk1"/>
                          </a:solidFill>
                          <a:latin typeface="Lato"/>
                          <a:ea typeface="Lato"/>
                          <a:cs typeface="Lato"/>
                          <a:sym typeface="Lato"/>
                        </a:rPr>
                        <a:t>$1</a:t>
                      </a:r>
                      <a:r>
                        <a:rPr lang="en" sz="980">
                          <a:solidFill>
                            <a:schemeClr val="dk1"/>
                          </a:solidFill>
                          <a:latin typeface="Lato"/>
                          <a:ea typeface="Lato"/>
                          <a:cs typeface="Lato"/>
                          <a:sym typeface="Lato"/>
                        </a:rPr>
                        <a:t>3</a:t>
                      </a:r>
                      <a:r>
                        <a:rPr lang="en" sz="980" u="none" cap="none" strike="noStrike">
                          <a:solidFill>
                            <a:schemeClr val="dk1"/>
                          </a:solidFill>
                          <a:latin typeface="Lato"/>
                          <a:ea typeface="Lato"/>
                          <a:cs typeface="Lato"/>
                          <a:sym typeface="Lato"/>
                        </a:rPr>
                        <a:t>.</a:t>
                      </a:r>
                      <a:r>
                        <a:rPr lang="en" sz="980">
                          <a:solidFill>
                            <a:schemeClr val="dk1"/>
                          </a:solidFill>
                          <a:latin typeface="Lato"/>
                          <a:ea typeface="Lato"/>
                          <a:cs typeface="Lato"/>
                          <a:sym typeface="Lato"/>
                        </a:rPr>
                        <a:t>9</a:t>
                      </a:r>
                      <a:r>
                        <a:rPr lang="en" sz="980" u="none" cap="none" strike="noStrike">
                          <a:solidFill>
                            <a:schemeClr val="dk1"/>
                          </a:solidFill>
                          <a:latin typeface="Lato"/>
                          <a:ea typeface="Lato"/>
                          <a:cs typeface="Lato"/>
                          <a:sym typeface="Lato"/>
                        </a:rPr>
                        <a:t>M /yr</a:t>
                      </a:r>
                      <a:endParaRPr sz="980" u="none" cap="none" strike="noStrike">
                        <a:solidFill>
                          <a:schemeClr val="dk1"/>
                        </a:solidFill>
                        <a:latin typeface="Lato"/>
                        <a:ea typeface="Lato"/>
                        <a:cs typeface="Lato"/>
                        <a:sym typeface="Lato"/>
                      </a:endParaRPr>
                    </a:p>
                  </a:txBody>
                  <a:tcPr marT="45725" marB="45725" marR="91450" marL="91450" anchor="ctr">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23" name="Google Shape;423;p51"/>
          <p:cNvSpPr/>
          <p:nvPr/>
        </p:nvSpPr>
        <p:spPr>
          <a:xfrm>
            <a:off x="365750" y="4239405"/>
            <a:ext cx="8412600" cy="566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rgbClr val="990000"/>
              </a:buClr>
              <a:buSzPts val="850"/>
              <a:buFont typeface="Calibri"/>
              <a:buNone/>
            </a:pPr>
            <a:r>
              <a:rPr lang="en" sz="1000">
                <a:solidFill>
                  <a:schemeClr val="dk1"/>
                </a:solidFill>
                <a:latin typeface="Lato"/>
                <a:ea typeface="Lato"/>
                <a:cs typeface="Lato"/>
                <a:sym typeface="Lato"/>
              </a:rPr>
              <a:t>Critical Caveats</a:t>
            </a:r>
            <a:endParaRPr sz="1000">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990000"/>
              </a:buClr>
              <a:buSzPts val="750"/>
              <a:buFont typeface="Calibri"/>
              <a:buNone/>
            </a:pPr>
            <a:r>
              <a:rPr lang="en" sz="1000" u="none" cap="none" strike="noStrike">
                <a:solidFill>
                  <a:schemeClr val="dk1"/>
                </a:solidFill>
                <a:latin typeface="Lato"/>
                <a:ea typeface="Lato"/>
                <a:cs typeface="Lato"/>
                <a:sym typeface="Lato"/>
              </a:rPr>
              <a:t>① Max intervention </a:t>
            </a:r>
            <a:r>
              <a:rPr lang="en" sz="1000">
                <a:solidFill>
                  <a:schemeClr val="dk1"/>
                </a:solidFill>
                <a:latin typeface="Lato"/>
                <a:ea typeface="Lato"/>
                <a:cs typeface="Lato"/>
                <a:sym typeface="Lato"/>
              </a:rPr>
              <a:t>5</a:t>
            </a:r>
            <a:r>
              <a:rPr lang="en" sz="1000" u="none" cap="none" strike="noStrike">
                <a:solidFill>
                  <a:schemeClr val="dk1"/>
                </a:solidFill>
                <a:latin typeface="Lato"/>
                <a:ea typeface="Lato"/>
                <a:cs typeface="Lato"/>
                <a:sym typeface="Lato"/>
              </a:rPr>
              <a:t>.</a:t>
            </a:r>
            <a:r>
              <a:rPr lang="en" sz="1000">
                <a:solidFill>
                  <a:schemeClr val="dk1"/>
                </a:solidFill>
                <a:latin typeface="Lato"/>
                <a:ea typeface="Lato"/>
                <a:cs typeface="Lato"/>
                <a:sym typeface="Lato"/>
              </a:rPr>
              <a:t>5</a:t>
            </a:r>
            <a:r>
              <a:rPr lang="en" sz="1000" u="none" cap="none" strike="noStrike">
                <a:solidFill>
                  <a:schemeClr val="dk1"/>
                </a:solidFill>
                <a:latin typeface="Lato"/>
                <a:ea typeface="Lato"/>
                <a:cs typeface="Lato"/>
                <a:sym typeface="Lato"/>
              </a:rPr>
              <a:t>h is correlation-based (IQR × coefficient), NOT causal — actual Δh requires A/B pilot.   </a:t>
            </a:r>
            <a:endParaRPr sz="1000" u="none" cap="none" strike="noStrike">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990000"/>
              </a:buClr>
              <a:buSzPts val="750"/>
              <a:buFont typeface="Calibri"/>
              <a:buNone/>
            </a:pPr>
            <a:r>
              <a:rPr lang="en" sz="1000" u="none" cap="none" strike="noStrike">
                <a:solidFill>
                  <a:schemeClr val="dk1"/>
                </a:solidFill>
                <a:latin typeface="Lato"/>
                <a:ea typeface="Lato"/>
                <a:cs typeface="Lato"/>
                <a:sym typeface="Lato"/>
              </a:rPr>
              <a:t>② OTIF 80% is industry-norm estimate — LogistiCorp to confirm customer contract mix.   </a:t>
            </a:r>
            <a:endParaRPr sz="1000" u="none" cap="none" strike="noStrike">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990000"/>
              </a:buClr>
              <a:buSzPts val="750"/>
              <a:buFont typeface="Calibri"/>
              <a:buNone/>
            </a:pPr>
            <a:r>
              <a:rPr lang="en" sz="1000" u="none" cap="none" strike="noStrike">
                <a:solidFill>
                  <a:schemeClr val="dk1"/>
                </a:solidFill>
                <a:latin typeface="Lato"/>
                <a:ea typeface="Lato"/>
                <a:cs typeface="Lato"/>
                <a:sym typeface="Lato"/>
              </a:rPr>
              <a:t>③ Intervention success 50% is unvalidated — the single most critical input to measure in a 3-month pilot.</a:t>
            </a:r>
            <a:endParaRPr sz="1000" u="none" cap="none" strike="noStrike">
              <a:solidFill>
                <a:schemeClr val="dk1"/>
              </a:solidFill>
              <a:latin typeface="Lato"/>
              <a:ea typeface="Lato"/>
              <a:cs typeface="Lato"/>
              <a:sym typeface="Lato"/>
            </a:endParaRPr>
          </a:p>
        </p:txBody>
      </p:sp>
      <p:sp>
        <p:nvSpPr>
          <p:cNvPr id="424" name="Google Shape;424;p51"/>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solidFill>
                  <a:srgbClr val="1C2026"/>
                </a:solidFill>
                <a:latin typeface="Lato"/>
                <a:ea typeface="Lato"/>
                <a:cs typeface="Lato"/>
                <a:sym typeface="Lato"/>
              </a:rPr>
              <a:t>‹#›</a:t>
            </a:fld>
            <a:endParaRPr sz="800">
              <a:solidFill>
                <a:srgbClr val="1C2026"/>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52"/>
          <p:cNvPicPr preferRelativeResize="0"/>
          <p:nvPr/>
        </p:nvPicPr>
        <p:blipFill>
          <a:blip r:embed="rId3">
            <a:alphaModFix/>
          </a:blip>
          <a:stretch>
            <a:fillRect/>
          </a:stretch>
        </p:blipFill>
        <p:spPr>
          <a:xfrm>
            <a:off x="194900" y="731238"/>
            <a:ext cx="8754304" cy="3034950"/>
          </a:xfrm>
          <a:prstGeom prst="rect">
            <a:avLst/>
          </a:prstGeom>
          <a:noFill/>
          <a:ln cap="flat" cmpd="sng" w="19050">
            <a:solidFill>
              <a:srgbClr val="1A5276"/>
            </a:solidFill>
            <a:prstDash val="solid"/>
            <a:round/>
            <a:headEnd len="sm" w="sm" type="none"/>
            <a:tailEnd len="sm" w="sm" type="none"/>
          </a:ln>
        </p:spPr>
      </p:pic>
      <p:sp>
        <p:nvSpPr>
          <p:cNvPr id="430" name="Google Shape;430;p52"/>
          <p:cNvSpPr/>
          <p:nvPr/>
        </p:nvSpPr>
        <p:spPr>
          <a:xfrm>
            <a:off x="365760" y="164592"/>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1"/>
              </a:buClr>
              <a:buSzPts val="2000"/>
              <a:buFont typeface="Calibri"/>
              <a:buNone/>
            </a:pPr>
            <a:r>
              <a:rPr i="0" lang="en" sz="2000" u="none" cap="none" strike="noStrike">
                <a:solidFill>
                  <a:srgbClr val="111111"/>
                </a:solidFill>
                <a:latin typeface="Playfair Display"/>
                <a:ea typeface="Playfair Display"/>
                <a:cs typeface="Playfair Display"/>
                <a:sym typeface="Playfair Display"/>
              </a:rPr>
              <a:t>Appendix </a:t>
            </a:r>
            <a:r>
              <a:rPr lang="en" sz="2000">
                <a:solidFill>
                  <a:srgbClr val="111111"/>
                </a:solidFill>
                <a:latin typeface="Playfair Display"/>
                <a:ea typeface="Playfair Display"/>
                <a:cs typeface="Playfair Display"/>
                <a:sym typeface="Playfair Display"/>
              </a:rPr>
              <a:t>C</a:t>
            </a:r>
            <a:r>
              <a:rPr i="0" lang="en" sz="2000" u="none" cap="none" strike="noStrike">
                <a:solidFill>
                  <a:srgbClr val="111111"/>
                </a:solidFill>
                <a:latin typeface="Playfair Display"/>
                <a:ea typeface="Playfair Display"/>
                <a:cs typeface="Playfair Display"/>
                <a:sym typeface="Playfair Display"/>
              </a:rPr>
              <a:t>  </a:t>
            </a:r>
            <a:r>
              <a:rPr lang="en" sz="2000">
                <a:solidFill>
                  <a:srgbClr val="111111"/>
                </a:solidFill>
                <a:latin typeface="Playfair Display"/>
                <a:ea typeface="Playfair Display"/>
                <a:cs typeface="Playfair Display"/>
                <a:sym typeface="Playfair Display"/>
              </a:rPr>
              <a:t>Feature Importance</a:t>
            </a:r>
            <a:endParaRPr i="0" sz="2000" u="none" cap="none" strike="noStrike">
              <a:solidFill>
                <a:srgbClr val="000000"/>
              </a:solidFill>
              <a:latin typeface="Playfair Display"/>
              <a:ea typeface="Playfair Display"/>
              <a:cs typeface="Playfair Display"/>
              <a:sym typeface="Playfair Display"/>
            </a:endParaRPr>
          </a:p>
        </p:txBody>
      </p:sp>
      <p:cxnSp>
        <p:nvCxnSpPr>
          <p:cNvPr id="431" name="Google Shape;431;p52"/>
          <p:cNvCxnSpPr/>
          <p:nvPr/>
        </p:nvCxnSpPr>
        <p:spPr>
          <a:xfrm>
            <a:off x="365760" y="658368"/>
            <a:ext cx="8412600" cy="0"/>
          </a:xfrm>
          <a:prstGeom prst="straightConnector1">
            <a:avLst/>
          </a:prstGeom>
          <a:noFill/>
          <a:ln cap="flat" cmpd="sng" w="9525">
            <a:solidFill>
              <a:srgbClr val="999999"/>
            </a:solidFill>
            <a:prstDash val="solid"/>
            <a:round/>
            <a:headEnd len="sm" w="sm" type="none"/>
            <a:tailEnd len="sm" w="sm" type="none"/>
          </a:ln>
        </p:spPr>
      </p:cxnSp>
      <p:sp>
        <p:nvSpPr>
          <p:cNvPr id="432" name="Google Shape;432;p52"/>
          <p:cNvSpPr/>
          <p:nvPr/>
        </p:nvSpPr>
        <p:spPr>
          <a:xfrm>
            <a:off x="152400" y="3839050"/>
            <a:ext cx="4331400" cy="1046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latin typeface="Lato"/>
              <a:ea typeface="Lato"/>
              <a:cs typeface="Lato"/>
              <a:sym typeface="Lato"/>
            </a:endParaRPr>
          </a:p>
          <a:p>
            <a:pPr indent="0" lvl="0" marL="0" rtl="0" algn="l">
              <a:lnSpc>
                <a:spcPct val="115000"/>
              </a:lnSpc>
              <a:spcBef>
                <a:spcPts val="0"/>
              </a:spcBef>
              <a:spcAft>
                <a:spcPts val="0"/>
              </a:spcAft>
              <a:buClr>
                <a:srgbClr val="000000"/>
              </a:buClr>
              <a:buSzPts val="1100"/>
              <a:buFont typeface="Arial"/>
              <a:buNone/>
            </a:pPr>
            <a:r>
              <a:rPr b="1" lang="en" sz="1000">
                <a:solidFill>
                  <a:srgbClr val="000000"/>
                </a:solidFill>
                <a:latin typeface="Lato"/>
                <a:ea typeface="Lato"/>
                <a:cs typeface="Lato"/>
                <a:sym typeface="Lato"/>
              </a:rPr>
              <a:t>Lasso Regularization Path:</a:t>
            </a:r>
            <a:r>
              <a:rPr lang="en" sz="1000">
                <a:solidFill>
                  <a:srgbClr val="000000"/>
                </a:solidFill>
                <a:latin typeface="Lato"/>
                <a:ea typeface="Lato"/>
                <a:cs typeface="Lato"/>
                <a:sym typeface="Lato"/>
              </a:rPr>
              <a:t> As regularization increases, weak features shrink to zero first. </a:t>
            </a:r>
            <a:r>
              <a:rPr lang="en" sz="1000">
                <a:solidFill>
                  <a:srgbClr val="1A5276"/>
                </a:solidFill>
                <a:latin typeface="Roboto Mono"/>
                <a:ea typeface="Roboto Mono"/>
                <a:cs typeface="Roboto Mono"/>
                <a:sym typeface="Roboto Mono"/>
              </a:rPr>
              <a:t>route_risk_level</a:t>
            </a:r>
            <a:r>
              <a:rPr lang="en" sz="1000">
                <a:solidFill>
                  <a:srgbClr val="000000"/>
                </a:solidFill>
                <a:latin typeface="Lato"/>
                <a:ea typeface="Lato"/>
                <a:cs typeface="Lato"/>
                <a:sym typeface="Lato"/>
              </a:rPr>
              <a:t>, </a:t>
            </a:r>
            <a:r>
              <a:rPr lang="en" sz="1000">
                <a:solidFill>
                  <a:srgbClr val="1A5276"/>
                </a:solidFill>
                <a:latin typeface="Roboto Mono"/>
                <a:ea typeface="Roboto Mono"/>
                <a:cs typeface="Roboto Mono"/>
                <a:sym typeface="Roboto Mono"/>
              </a:rPr>
              <a:t>driver_behavior_score</a:t>
            </a:r>
            <a:r>
              <a:rPr lang="en" sz="1000">
                <a:solidFill>
                  <a:srgbClr val="000000"/>
                </a:solidFill>
                <a:latin typeface="Lato"/>
                <a:ea typeface="Lato"/>
                <a:cs typeface="Lato"/>
                <a:sym typeface="Lato"/>
              </a:rPr>
              <a:t>, and </a:t>
            </a:r>
            <a:r>
              <a:rPr lang="en" sz="1000">
                <a:solidFill>
                  <a:srgbClr val="1A5276"/>
                </a:solidFill>
                <a:latin typeface="Roboto Mono"/>
                <a:ea typeface="Roboto Mono"/>
                <a:cs typeface="Roboto Mono"/>
                <a:sym typeface="Roboto Mono"/>
              </a:rPr>
              <a:t>traffic_congestion_level</a:t>
            </a:r>
            <a:r>
              <a:rPr lang="en" sz="1000">
                <a:solidFill>
                  <a:srgbClr val="000000"/>
                </a:solidFill>
                <a:latin typeface="Lato"/>
                <a:ea typeface="Lato"/>
                <a:cs typeface="Lato"/>
                <a:sym typeface="Lato"/>
              </a:rPr>
              <a:t> persist longest - these carry the strongest signal. The red dashed line marks the CV-selected alpha.</a:t>
            </a:r>
            <a:endParaRPr sz="1000">
              <a:solidFill>
                <a:srgbClr val="000000"/>
              </a:solidFill>
              <a:latin typeface="Lato"/>
              <a:ea typeface="Lato"/>
              <a:cs typeface="Lato"/>
              <a:sym typeface="Lato"/>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latin typeface="Lato"/>
              <a:ea typeface="Lato"/>
              <a:cs typeface="Lato"/>
              <a:sym typeface="Lato"/>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latin typeface="Lato"/>
              <a:ea typeface="Lato"/>
              <a:cs typeface="Lato"/>
              <a:sym typeface="Lato"/>
            </a:endParaRPr>
          </a:p>
        </p:txBody>
      </p:sp>
      <p:sp>
        <p:nvSpPr>
          <p:cNvPr id="433" name="Google Shape;433;p52"/>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solidFill>
                  <a:srgbClr val="1C2026"/>
                </a:solidFill>
                <a:latin typeface="Lato"/>
                <a:ea typeface="Lato"/>
                <a:cs typeface="Lato"/>
                <a:sym typeface="Lato"/>
              </a:rPr>
              <a:t>‹#›</a:t>
            </a:fld>
            <a:endParaRPr sz="800">
              <a:solidFill>
                <a:srgbClr val="1C2026"/>
              </a:solidFill>
              <a:latin typeface="Lato"/>
              <a:ea typeface="Lato"/>
              <a:cs typeface="Lato"/>
              <a:sym typeface="Lato"/>
            </a:endParaRPr>
          </a:p>
        </p:txBody>
      </p:sp>
      <p:sp>
        <p:nvSpPr>
          <p:cNvPr id="434" name="Google Shape;434;p52"/>
          <p:cNvSpPr txBox="1"/>
          <p:nvPr/>
        </p:nvSpPr>
        <p:spPr>
          <a:xfrm>
            <a:off x="4712825" y="3839050"/>
            <a:ext cx="4278900" cy="10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latin typeface="Lato"/>
                <a:ea typeface="Lato"/>
                <a:cs typeface="Lato"/>
                <a:sym typeface="Lato"/>
              </a:rPr>
              <a:t>Linear Regression Coefficients: </a:t>
            </a:r>
            <a:r>
              <a:rPr lang="en" sz="1000">
                <a:solidFill>
                  <a:srgbClr val="000000"/>
                </a:solidFill>
                <a:latin typeface="Lato"/>
                <a:ea typeface="Lato"/>
                <a:cs typeface="Lato"/>
                <a:sym typeface="Lato"/>
              </a:rPr>
              <a:t>Absolute coefficient magnitude confirms the same top features. Day-of-week dummies contribute minimally, consistent with the flat temporal pattern observed in EDA. </a:t>
            </a:r>
            <a:br>
              <a:rPr lang="en" sz="1000">
                <a:solidFill>
                  <a:srgbClr val="000000"/>
                </a:solidFill>
                <a:latin typeface="Lato"/>
                <a:ea typeface="Lato"/>
                <a:cs typeface="Lato"/>
                <a:sym typeface="Lato"/>
              </a:rPr>
            </a:br>
            <a:r>
              <a:rPr b="1" lang="en" sz="1000">
                <a:solidFill>
                  <a:srgbClr val="000000"/>
                </a:solidFill>
                <a:latin typeface="Lato"/>
                <a:ea typeface="Lato"/>
                <a:cs typeface="Lato"/>
                <a:sym typeface="Lato"/>
              </a:rPr>
              <a:t>The two methods agree:</a:t>
            </a:r>
            <a:r>
              <a:rPr lang="en" sz="1000">
                <a:solidFill>
                  <a:srgbClr val="000000"/>
                </a:solidFill>
                <a:latin typeface="Lato"/>
                <a:ea typeface="Lato"/>
                <a:cs typeface="Lato"/>
                <a:sym typeface="Lato"/>
              </a:rPr>
              <a:t> a small subset of operational and driver-related features drives most of the prediction.</a:t>
            </a:r>
            <a:endParaRPr sz="1000">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